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  <p:embeddedFont>
      <p:font typeface="Inter ExtraBold"/>
      <p:bold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oXpkfDdD3/XEZy0Zvlz4mziLW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ExtraBold-bold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8" Type="http://customschemas.google.com/relationships/presentationmetadata" Target="metadata"/><Relationship Id="rId27" Type="http://schemas.openxmlformats.org/officeDocument/2006/relationships/font" Target="fonts/Inter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25e1d19284b390e5_1_109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25e1d19284b390e5_1_10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25e1d19284b390e5_1_109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h25e1d19284b390e5_1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h25e1d19284b390e5_1_10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25e1d19284b390e5_1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25e1d19284b390e5_1_358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h25e1d19284b390e5_1_35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25e1d19284b390e5_1_358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h25e1d19284b390e5_1_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h25e1d19284b390e5_1_35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25e1d19284b390e5_1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25e1d19284b390e5_1_70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25e1d19284b390e5_1_70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h25e1d19284b390e5_1_70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h25e1d19284b390e5_1_7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h25e1d19284b390e5_1_70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h25e1d19284b390e5_1_7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25e1d19284b390e5_1_91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25e1d19284b390e5_1_91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h25e1d19284b390e5_1_91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h25e1d19284b390e5_1_9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h25e1d19284b390e5_1_91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25e1d19284b390e5_1_9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25e1d19284b390e5_1_1665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h25e1d19284b390e5_1_166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25e1d19284b390e5_1_1665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h25e1d19284b390e5_1_16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h25e1d19284b390e5_1_166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h25e1d19284b390e5_1_16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25e1d19284b390e5_1_2049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25e1d19284b390e5_1_204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h25e1d19284b390e5_1_2049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h25e1d19284b390e5_1_20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h25e1d19284b390e5_1_204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h25e1d19284b390e5_1_20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25e1d19284b390e5_1_2452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h25e1d19284b390e5_1_2452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h25e1d19284b390e5_1_2452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h25e1d19284b390e5_1_24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h25e1d19284b390e5_1_2452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h25e1d19284b390e5_1_24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383" name="Google Shape;3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5e1d19284b390e5_12_0)">
  <p:cSld name="Generated (h25e1d19284b390e5_12_0)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retro-ayush/PRISM_GENAI_HACKATHON_Y2026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BK-_v1iJLoA" TargetMode="External"/><Relationship Id="rId4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77250" y="3310125"/>
            <a:ext cx="7928700" cy="25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Code4Fun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Aman Kumar Chouhan | ac8126@srmist.edu.in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Atharv Tamboli | at2421@srmist.edu.in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Ayush Kesarwani | ak2131@srmist.edu.in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https://github.com/retro-ayush/PRISM_GENAI_HACKATHON_Y2026</a:t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838200" y="3810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Theme: Interruptible Real-Time Agents</a:t>
            </a:r>
            <a:endParaRPr b="1" sz="3600">
              <a:solidFill>
                <a:srgbClr val="4C1D9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838200" y="1095375"/>
            <a:ext cx="10515600" cy="1714500"/>
            <a:chOff x="0" y="0"/>
            <a:chExt cx="10515600" cy="171450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0515600" cy="1714500"/>
            </a:xfrm>
            <a:prstGeom prst="roundRect">
              <a:avLst>
                <a:gd fmla="val 8888" name="adj"/>
              </a:avLst>
            </a:prstGeom>
            <a:solidFill>
              <a:srgbClr val="F8F7FC"/>
            </a:solidFill>
            <a:ln cap="flat" cmpd="sng" w="14300">
              <a:solidFill>
                <a:srgbClr val="E2D9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5257800" cy="1714500"/>
            </a:xfrm>
            <a:prstGeom prst="roundRect">
              <a:avLst>
                <a:gd fmla="val 8888" name="adj"/>
              </a:avLst>
            </a:prstGeom>
            <a:solidFill>
              <a:srgbClr val="F3E8FF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6" name="Google Shape;106;p2"/>
            <p:cNvCxnSpPr/>
            <p:nvPr/>
          </p:nvCxnSpPr>
          <p:spPr>
            <a:xfrm>
              <a:off x="5257800" y="190500"/>
              <a:ext cx="0" cy="13335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D9F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7" name="Google Shape;107;p2"/>
            <p:cNvSpPr txBox="1"/>
            <p:nvPr/>
          </p:nvSpPr>
          <p:spPr>
            <a:xfrm>
              <a:off x="266700" y="190500"/>
              <a:ext cx="47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 PROBLEM</a:t>
              </a:r>
              <a:endParaRPr b="1" sz="12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Traditional AI: You speak, agent waits, processes, then speaks.</a:t>
              </a:r>
              <a:endParaRPr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But humans don't talk like that.</a:t>
              </a:r>
              <a:endParaRPr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i="1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We interrupt, change our minds, say “wait…”, and correct ourselves mid-sentence.</a:t>
              </a:r>
              <a:endParaRPr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5524500" y="190500"/>
              <a:ext cx="47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 VISION &amp; GOAL</a:t>
              </a:r>
              <a:endParaRPr b="1" sz="11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Interruptible Real-Time Agents</a:t>
              </a:r>
              <a:endParaRPr b="1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AI agents that listen while speaking, detect user turn-taking, stop immediately, and adapt instantly.</a:t>
              </a:r>
              <a:endParaRPr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Goal: Make voice AI feel like a natural conversation, not a command interface.</a:t>
              </a:r>
              <a:endParaRPr b="1" sz="12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838200" y="3000375"/>
            <a:ext cx="2486100" cy="3381300"/>
            <a:chOff x="0" y="0"/>
            <a:chExt cx="2486100" cy="33813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2486100" cy="3381300"/>
            </a:xfrm>
            <a:prstGeom prst="roundRect">
              <a:avLst>
                <a:gd fmla="val 5363" name="adj"/>
              </a:avLst>
            </a:prstGeom>
            <a:solidFill>
              <a:srgbClr val="FFFFFF"/>
            </a:solidFill>
            <a:ln cap="flat" cmpd="sng" w="14300">
              <a:solidFill>
                <a:srgbClr val="E2D9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0" y="0"/>
              <a:ext cx="2486100" cy="57300"/>
            </a:xfrm>
            <a:prstGeom prst="roundRect">
              <a:avLst>
                <a:gd fmla="val 50000" name="adj"/>
              </a:avLst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228600" y="228600"/>
              <a:ext cx="20289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36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Full-duplex</a:t>
              </a:r>
              <a:endParaRPr b="1" sz="19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User can interrupt the agent while it is speaking; playback stops and new input is processed immediately.</a:t>
              </a:r>
              <a:endParaRPr sz="15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3514725" y="3000375"/>
            <a:ext cx="2486100" cy="3381300"/>
            <a:chOff x="0" y="0"/>
            <a:chExt cx="2486100" cy="3381300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2486100" cy="3381300"/>
            </a:xfrm>
            <a:prstGeom prst="roundRect">
              <a:avLst>
                <a:gd fmla="val 5363" name="adj"/>
              </a:avLst>
            </a:prstGeom>
            <a:solidFill>
              <a:srgbClr val="FFFFFF"/>
            </a:solidFill>
            <a:ln cap="flat" cmpd="sng" w="14300">
              <a:solidFill>
                <a:srgbClr val="E2D9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0" y="0"/>
              <a:ext cx="2486100" cy="57300"/>
            </a:xfrm>
            <a:prstGeom prst="roundRect">
              <a:avLst>
                <a:gd fmla="val 50000" name="adj"/>
              </a:avLst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228600" y="228600"/>
              <a:ext cx="20289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36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Action Oriented</a:t>
              </a:r>
              <a:endParaRPr b="1" sz="19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GPT-4o triggers executable Python functions directly instead of only generating text.</a:t>
              </a:r>
              <a:endParaRPr sz="15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6191250" y="3000375"/>
            <a:ext cx="2486100" cy="3381300"/>
            <a:chOff x="0" y="0"/>
            <a:chExt cx="2486100" cy="3381300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2486100" cy="3381300"/>
            </a:xfrm>
            <a:prstGeom prst="roundRect">
              <a:avLst>
                <a:gd fmla="val 5363" name="adj"/>
              </a:avLst>
            </a:prstGeom>
            <a:solidFill>
              <a:srgbClr val="FFFFFF"/>
            </a:solidFill>
            <a:ln cap="flat" cmpd="sng" w="14300">
              <a:solidFill>
                <a:srgbClr val="E2D9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0" y="0"/>
              <a:ext cx="2486100" cy="57300"/>
            </a:xfrm>
            <a:prstGeom prst="roundRect">
              <a:avLst>
                <a:gd fmla="val 50000" name="adj"/>
              </a:avLst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228600" y="228600"/>
              <a:ext cx="20289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36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Real-Time Stack</a:t>
              </a:r>
              <a:endParaRPr b="1" sz="19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WebRTC audio + local VAD + streaming STT/LLM/TTS keeps interaction ultra-responsive.</a:t>
              </a:r>
              <a:endParaRPr sz="15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8867775" y="3000375"/>
            <a:ext cx="2486100" cy="3381300"/>
            <a:chOff x="0" y="0"/>
            <a:chExt cx="2486100" cy="3381300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486100" cy="3381300"/>
            </a:xfrm>
            <a:prstGeom prst="roundRect">
              <a:avLst>
                <a:gd fmla="val 5363" name="adj"/>
              </a:avLst>
            </a:prstGeom>
            <a:solidFill>
              <a:srgbClr val="FFFFFF"/>
            </a:solidFill>
            <a:ln cap="flat" cmpd="sng" w="14300">
              <a:solidFill>
                <a:srgbClr val="E2D9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0" y="0"/>
              <a:ext cx="2486100" cy="57300"/>
            </a:xfrm>
            <a:prstGeom prst="roundRect">
              <a:avLst>
                <a:gd fmla="val 50000" name="adj"/>
              </a:avLst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228600" y="228600"/>
              <a:ext cx="20289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36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Multi-domain</a:t>
              </a:r>
              <a:endParaRPr b="1" sz="19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12 specialized tools across E-Commerce, Travel, Finance, and Housing domains.</a:t>
              </a:r>
              <a:endParaRPr sz="15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25e1d19284b390e5_1_109"/>
          <p:cNvSpPr txBox="1"/>
          <p:nvPr/>
        </p:nvSpPr>
        <p:spPr>
          <a:xfrm>
            <a:off x="838200" y="36195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h25e1d19284b390e5_1_109"/>
          <p:cNvGrpSpPr/>
          <p:nvPr/>
        </p:nvGrpSpPr>
        <p:grpSpPr>
          <a:xfrm>
            <a:off x="838200" y="1238250"/>
            <a:ext cx="5105400" cy="3333900"/>
            <a:chOff x="0" y="0"/>
            <a:chExt cx="5105400" cy="3333900"/>
          </a:xfrm>
        </p:grpSpPr>
        <p:sp>
          <p:nvSpPr>
            <p:cNvPr id="135" name="Google Shape;135;h25e1d19284b390e5_1_109"/>
            <p:cNvSpPr/>
            <p:nvPr/>
          </p:nvSpPr>
          <p:spPr>
            <a:xfrm>
              <a:off x="0" y="0"/>
              <a:ext cx="5105400" cy="3333900"/>
            </a:xfrm>
            <a:prstGeom prst="roundRect">
              <a:avLst>
                <a:gd fmla="val 4571" name="adj"/>
              </a:avLst>
            </a:prstGeom>
            <a:solidFill>
              <a:srgbClr val="F8F7FC"/>
            </a:solidFill>
            <a:ln cap="flat" cmpd="sng" w="14300">
              <a:solidFill>
                <a:srgbClr val="E2D9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h25e1d19284b390e5_1_109"/>
            <p:cNvSpPr txBox="1"/>
            <p:nvPr/>
          </p:nvSpPr>
          <p:spPr>
            <a:xfrm>
              <a:off x="228600" y="190500"/>
              <a:ext cx="4648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142B"/>
                  </a:solidFill>
                  <a:latin typeface="Arial"/>
                  <a:ea typeface="Arial"/>
                  <a:cs typeface="Arial"/>
                  <a:sym typeface="Arial"/>
                </a:rPr>
                <a:t>Traditional Voice Assistants</a:t>
              </a:r>
              <a:endParaRPr b="1" sz="180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D28D9"/>
                  </a:solidFill>
                  <a:latin typeface="Arial"/>
                  <a:ea typeface="Arial"/>
                  <a:cs typeface="Arial"/>
                  <a:sym typeface="Arial"/>
                </a:rPr>
                <a:t>Examples: Siri, Alexa, Google Assistant</a:t>
              </a:r>
              <a:endParaRPr b="1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A4A68"/>
                </a:buClr>
                <a:buSzPts val="1400"/>
                <a:buFont typeface="Calibri"/>
                <a:buChar char="●"/>
              </a:pPr>
              <a:r>
                <a:rPr lang="en-US">
                  <a:solidFill>
                    <a:srgbClr val="4A4A68"/>
                  </a:solidFill>
                  <a:latin typeface="Calibri"/>
                  <a:ea typeface="Calibri"/>
                  <a:cs typeface="Calibri"/>
                  <a:sym typeface="Calibri"/>
                </a:rPr>
                <a:t>Strong at command-based interactions</a:t>
              </a:r>
              <a:endParaRPr>
                <a:solidFill>
                  <a:srgbClr val="4A4A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A4A68"/>
                </a:buClr>
                <a:buSzPts val="1400"/>
                <a:buFont typeface="Calibri"/>
                <a:buChar char="●"/>
              </a:pPr>
              <a:r>
                <a:rPr lang="en-US">
                  <a:solidFill>
                    <a:srgbClr val="4A4A68"/>
                  </a:solidFill>
                  <a:latin typeface="Calibri"/>
                  <a:ea typeface="Calibri"/>
                  <a:cs typeface="Calibri"/>
                  <a:sym typeface="Calibri"/>
                </a:rPr>
                <a:t>Usually follow a turn-by-turn conversation</a:t>
              </a:r>
              <a:endParaRPr>
                <a:solidFill>
                  <a:srgbClr val="4A4A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A4A68"/>
                </a:buClr>
                <a:buSzPts val="1400"/>
                <a:buFont typeface="Calibri"/>
                <a:buChar char="●"/>
              </a:pPr>
              <a:r>
                <a:rPr lang="en-US">
                  <a:solidFill>
                    <a:srgbClr val="4A4A68"/>
                  </a:solidFill>
                  <a:latin typeface="Calibri"/>
                  <a:ea typeface="Calibri"/>
                  <a:cs typeface="Calibri"/>
                  <a:sym typeface="Calibri"/>
                </a:rPr>
                <a:t>Interruption/barge-in is limited or inconsistent</a:t>
              </a:r>
              <a:endParaRPr>
                <a:solidFill>
                  <a:srgbClr val="4A4A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A4A68"/>
                </a:buClr>
                <a:buSzPts val="1400"/>
                <a:buFont typeface="Calibri"/>
                <a:buChar char="●"/>
              </a:pPr>
              <a:r>
                <a:rPr lang="en-US">
                  <a:solidFill>
                    <a:srgbClr val="4A4A68"/>
                  </a:solidFill>
                  <a:latin typeface="Calibri"/>
                  <a:ea typeface="Calibri"/>
                  <a:cs typeface="Calibri"/>
                  <a:sym typeface="Calibri"/>
                </a:rPr>
                <a:t>Often wait for a complete user turn before processing</a:t>
              </a:r>
              <a:endParaRPr>
                <a:solidFill>
                  <a:srgbClr val="4A4A6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h25e1d19284b390e5_1_109"/>
            <p:cNvSpPr/>
            <p:nvPr/>
          </p:nvSpPr>
          <p:spPr>
            <a:xfrm>
              <a:off x="228600" y="2247900"/>
              <a:ext cx="4648200" cy="857400"/>
            </a:xfrm>
            <a:prstGeom prst="roundRect">
              <a:avLst>
                <a:gd fmla="val 13333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h25e1d19284b390e5_1_109"/>
            <p:cNvSpPr txBox="1"/>
            <p:nvPr/>
          </p:nvSpPr>
          <p:spPr>
            <a:xfrm>
              <a:off x="381000" y="2343150"/>
              <a:ext cx="4343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C2626"/>
                  </a:solidFill>
                  <a:latin typeface="Arial"/>
                  <a:ea typeface="Arial"/>
                  <a:cs typeface="Arial"/>
                  <a:sym typeface="Arial"/>
                </a:rPr>
                <a:t>GAP</a:t>
              </a:r>
              <a:endParaRPr b="1" sz="11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Feels more like command → response than natural conversation.</a:t>
              </a:r>
              <a:endParaRPr sz="115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h25e1d19284b390e5_1_109"/>
          <p:cNvGrpSpPr/>
          <p:nvPr/>
        </p:nvGrpSpPr>
        <p:grpSpPr>
          <a:xfrm>
            <a:off x="6248400" y="1238250"/>
            <a:ext cx="5105400" cy="3333900"/>
            <a:chOff x="0" y="0"/>
            <a:chExt cx="5105400" cy="3333900"/>
          </a:xfrm>
        </p:grpSpPr>
        <p:sp>
          <p:nvSpPr>
            <p:cNvPr id="140" name="Google Shape;140;h25e1d19284b390e5_1_109"/>
            <p:cNvSpPr/>
            <p:nvPr/>
          </p:nvSpPr>
          <p:spPr>
            <a:xfrm>
              <a:off x="0" y="0"/>
              <a:ext cx="5105400" cy="3333900"/>
            </a:xfrm>
            <a:prstGeom prst="roundRect">
              <a:avLst>
                <a:gd fmla="val 4571" name="adj"/>
              </a:avLst>
            </a:prstGeom>
            <a:solidFill>
              <a:srgbClr val="F8F7FC"/>
            </a:solidFill>
            <a:ln cap="flat" cmpd="sng" w="14300">
              <a:solidFill>
                <a:srgbClr val="E2D9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h25e1d19284b390e5_1_109"/>
            <p:cNvSpPr txBox="1"/>
            <p:nvPr/>
          </p:nvSpPr>
          <p:spPr>
            <a:xfrm>
              <a:off x="228600" y="190500"/>
              <a:ext cx="4648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142B"/>
                  </a:solidFill>
                  <a:latin typeface="Arial"/>
                  <a:ea typeface="Arial"/>
                  <a:cs typeface="Arial"/>
                  <a:sym typeface="Arial"/>
                </a:rPr>
                <a:t>Modern Voice AI Agents</a:t>
              </a:r>
              <a:endParaRPr b="1" sz="180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D28D9"/>
                  </a:solidFill>
                  <a:latin typeface="Arial"/>
                  <a:ea typeface="Arial"/>
                  <a:cs typeface="Arial"/>
                  <a:sym typeface="Arial"/>
                </a:rPr>
                <a:t>Examples: Real-time conversational AI systems</a:t>
              </a:r>
              <a:endParaRPr b="1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A4A68"/>
                </a:buClr>
                <a:buSzPts val="1400"/>
                <a:buFont typeface="Calibri"/>
                <a:buChar char="●"/>
              </a:pPr>
              <a:r>
                <a:rPr lang="en-US">
                  <a:solidFill>
                    <a:srgbClr val="4A4A68"/>
                  </a:solidFill>
                  <a:latin typeface="Calibri"/>
                  <a:ea typeface="Calibri"/>
                  <a:cs typeface="Calibri"/>
                  <a:sym typeface="Calibri"/>
                </a:rPr>
                <a:t>Much faster response times</a:t>
              </a:r>
              <a:endParaRPr>
                <a:solidFill>
                  <a:srgbClr val="4A4A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A4A68"/>
                </a:buClr>
                <a:buSzPts val="1400"/>
                <a:buFont typeface="Calibri"/>
                <a:buChar char="●"/>
              </a:pPr>
              <a:r>
                <a:rPr lang="en-US">
                  <a:solidFill>
                    <a:srgbClr val="4A4A68"/>
                  </a:solidFill>
                  <a:latin typeface="Calibri"/>
                  <a:ea typeface="Calibri"/>
                  <a:cs typeface="Calibri"/>
                  <a:sym typeface="Calibri"/>
                </a:rPr>
                <a:t>Streaming STT, LLM and TTS</a:t>
              </a:r>
              <a:endParaRPr>
                <a:solidFill>
                  <a:srgbClr val="4A4A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A4A68"/>
                </a:buClr>
                <a:buSzPts val="1400"/>
                <a:buFont typeface="Calibri"/>
                <a:buChar char="●"/>
              </a:pPr>
              <a:r>
                <a:rPr lang="en-US">
                  <a:solidFill>
                    <a:srgbClr val="4A4A68"/>
                  </a:solidFill>
                  <a:latin typeface="Calibri"/>
                  <a:ea typeface="Calibri"/>
                  <a:cs typeface="Calibri"/>
                  <a:sym typeface="Calibri"/>
                </a:rPr>
                <a:t>Better conversational experience</a:t>
              </a:r>
              <a:endParaRPr>
                <a:solidFill>
                  <a:srgbClr val="4A4A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A4A68"/>
                </a:buClr>
                <a:buSzPts val="1400"/>
                <a:buFont typeface="Calibri"/>
                <a:buChar char="●"/>
              </a:pPr>
              <a:r>
                <a:rPr lang="en-US">
                  <a:solidFill>
                    <a:srgbClr val="4A4A68"/>
                  </a:solidFill>
                  <a:latin typeface="Calibri"/>
                  <a:ea typeface="Calibri"/>
                  <a:cs typeface="Calibri"/>
                  <a:sym typeface="Calibri"/>
                </a:rPr>
                <a:t>Can support basic interruption handling</a:t>
              </a:r>
              <a:endParaRPr>
                <a:solidFill>
                  <a:srgbClr val="4A4A6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h25e1d19284b390e5_1_109"/>
            <p:cNvSpPr/>
            <p:nvPr/>
          </p:nvSpPr>
          <p:spPr>
            <a:xfrm>
              <a:off x="228600" y="2247900"/>
              <a:ext cx="4648200" cy="857400"/>
            </a:xfrm>
            <a:prstGeom prst="roundRect">
              <a:avLst>
                <a:gd fmla="val 13333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h25e1d19284b390e5_1_109"/>
            <p:cNvSpPr txBox="1"/>
            <p:nvPr/>
          </p:nvSpPr>
          <p:spPr>
            <a:xfrm>
              <a:off x="381000" y="2343150"/>
              <a:ext cx="4343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C2626"/>
                  </a:solidFill>
                  <a:latin typeface="Arial"/>
                  <a:ea typeface="Arial"/>
                  <a:cs typeface="Arial"/>
                  <a:sym typeface="Arial"/>
                </a:rPr>
                <a:t>GAP</a:t>
              </a:r>
              <a:endParaRPr b="1" sz="11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Maintaining true full-duplex interaction while simultaneously listening, processing and speaking is still challenging.</a:t>
              </a:r>
              <a:endParaRPr sz="115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h25e1d19284b390e5_1_109"/>
          <p:cNvGrpSpPr/>
          <p:nvPr/>
        </p:nvGrpSpPr>
        <p:grpSpPr>
          <a:xfrm>
            <a:off x="838200" y="4781550"/>
            <a:ext cx="10515600" cy="1428900"/>
            <a:chOff x="0" y="0"/>
            <a:chExt cx="10515600" cy="1428900"/>
          </a:xfrm>
        </p:grpSpPr>
        <p:sp>
          <p:nvSpPr>
            <p:cNvPr id="145" name="Google Shape;145;h25e1d19284b390e5_1_109"/>
            <p:cNvSpPr/>
            <p:nvPr/>
          </p:nvSpPr>
          <p:spPr>
            <a:xfrm>
              <a:off x="0" y="0"/>
              <a:ext cx="10515600" cy="1428900"/>
            </a:xfrm>
            <a:prstGeom prst="roundRect">
              <a:avLst>
                <a:gd fmla="val 10666" name="adj"/>
              </a:avLst>
            </a:prstGeom>
            <a:solidFill>
              <a:srgbClr val="FFF7ED"/>
            </a:solidFill>
            <a:ln cap="flat" cmpd="sng" w="14300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h25e1d19284b390e5_1_109"/>
            <p:cNvSpPr txBox="1"/>
            <p:nvPr/>
          </p:nvSpPr>
          <p:spPr>
            <a:xfrm>
              <a:off x="304800" y="190500"/>
              <a:ext cx="990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C2410C"/>
                  </a:solidFill>
                  <a:latin typeface="Arial"/>
                  <a:ea typeface="Arial"/>
                  <a:cs typeface="Arial"/>
                  <a:sym typeface="Arial"/>
                </a:rPr>
                <a:t>⚠️ THE CORE PROBLEM</a:t>
              </a:r>
              <a:endParaRPr b="1" sz="1400">
                <a:solidFill>
                  <a:srgbClr val="C241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C2D12"/>
                  </a:solidFill>
                  <a:latin typeface="Calibri"/>
                  <a:ea typeface="Calibri"/>
                  <a:cs typeface="Calibri"/>
                  <a:sym typeface="Calibri"/>
                </a:rPr>
                <a:t>Most systems are optimized for responding quickly — not for handling the messy, overlapping nature of human conversation.</a:t>
              </a:r>
              <a:endParaRPr b="1" sz="16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25e1d19284b390e5_1_358"/>
          <p:cNvSpPr txBox="1"/>
          <p:nvPr/>
        </p:nvSpPr>
        <p:spPr>
          <a:xfrm>
            <a:off x="571500" y="333375"/>
            <a:ext cx="11049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5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FULL-DUPLEX VOICE AGENT</a:t>
            </a:r>
            <a:endParaRPr b="1" sz="925">
              <a:solidFill>
                <a:srgbClr val="7C3AE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Our Solution &amp; Architecture Diagram</a:t>
            </a:r>
            <a:endParaRPr b="1" sz="2960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h25e1d19284b390e5_1_358"/>
          <p:cNvGrpSpPr/>
          <p:nvPr/>
        </p:nvGrpSpPr>
        <p:grpSpPr>
          <a:xfrm>
            <a:off x="571500" y="1095375"/>
            <a:ext cx="3714900" cy="2476500"/>
            <a:chOff x="0" y="0"/>
            <a:chExt cx="3714900" cy="2476500"/>
          </a:xfrm>
        </p:grpSpPr>
        <p:sp>
          <p:nvSpPr>
            <p:cNvPr id="157" name="Google Shape;157;h25e1d19284b390e5_1_358"/>
            <p:cNvSpPr/>
            <p:nvPr/>
          </p:nvSpPr>
          <p:spPr>
            <a:xfrm>
              <a:off x="0" y="0"/>
              <a:ext cx="3714900" cy="2476500"/>
            </a:xfrm>
            <a:prstGeom prst="roundRect">
              <a:avLst>
                <a:gd fmla="val 5384" name="adj"/>
              </a:avLst>
            </a:prstGeom>
            <a:solidFill>
              <a:srgbClr val="FFFF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h25e1d19284b390e5_1_358"/>
            <p:cNvSpPr/>
            <p:nvPr/>
          </p:nvSpPr>
          <p:spPr>
            <a:xfrm>
              <a:off x="0" y="0"/>
              <a:ext cx="3714900" cy="573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h25e1d19284b390e5_1_358"/>
            <p:cNvSpPr txBox="1"/>
            <p:nvPr/>
          </p:nvSpPr>
          <p:spPr>
            <a:xfrm>
              <a:off x="228600" y="190500"/>
              <a:ext cx="32577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OUR APPROACH</a:t>
              </a:r>
              <a:endParaRPr b="1" sz="12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We build a full-duplex, interruptible voice agent that operates concurrently rather than waiting for discrete turn completion.</a:t>
              </a:r>
              <a:endParaRPr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Continuous Interaction Loop:</a:t>
              </a:r>
              <a:endParaRPr b="1" sz="11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6B21A8"/>
                  </a:solidFill>
                  <a:latin typeface="Calibri"/>
                  <a:ea typeface="Calibri"/>
                  <a:cs typeface="Calibri"/>
                  <a:sym typeface="Calibri"/>
                </a:rPr>
                <a:t>LISTEN → PROCESS → SPEAK → DETECT → ADAPT</a:t>
              </a:r>
              <a:endParaRPr b="1" sz="1050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The agent actively listens while speaking—instantly surrendering the conversational turn upon user interruption.</a:t>
              </a:r>
              <a:endParaRPr i="1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h25e1d19284b390e5_1_358"/>
          <p:cNvGrpSpPr/>
          <p:nvPr/>
        </p:nvGrpSpPr>
        <p:grpSpPr>
          <a:xfrm>
            <a:off x="571500" y="3762375"/>
            <a:ext cx="3714900" cy="2667000"/>
            <a:chOff x="0" y="0"/>
            <a:chExt cx="3714900" cy="2667000"/>
          </a:xfrm>
        </p:grpSpPr>
        <p:sp>
          <p:nvSpPr>
            <p:cNvPr id="161" name="Google Shape;161;h25e1d19284b390e5_1_358"/>
            <p:cNvSpPr/>
            <p:nvPr/>
          </p:nvSpPr>
          <p:spPr>
            <a:xfrm>
              <a:off x="0" y="0"/>
              <a:ext cx="3714900" cy="2667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h25e1d19284b390e5_1_358"/>
            <p:cNvSpPr/>
            <p:nvPr/>
          </p:nvSpPr>
          <p:spPr>
            <a:xfrm>
              <a:off x="0" y="0"/>
              <a:ext cx="3714900" cy="57300"/>
            </a:xfrm>
            <a:prstGeom prst="roundRect">
              <a:avLst>
                <a:gd fmla="val 50000" name="adj"/>
              </a:avLst>
            </a:prstGeom>
            <a:solidFill>
              <a:srgbClr val="6B21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h25e1d19284b390e5_1_358"/>
            <p:cNvSpPr txBox="1"/>
            <p:nvPr/>
          </p:nvSpPr>
          <p:spPr>
            <a:xfrm>
              <a:off x="228600" y="190500"/>
              <a:ext cx="3257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PARADIGM SHIFT</a:t>
              </a:r>
              <a:endParaRPr b="1" sz="15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5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Traditional Paradigm</a:t>
              </a:r>
              <a:endParaRPr b="1" sz="14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Listen → Wait → Process → Speak → Finish</a:t>
              </a:r>
              <a:endParaRPr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5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Our Agent Paradigm</a:t>
              </a:r>
              <a:endParaRPr b="1" sz="145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15803D"/>
                  </a:solidFill>
                  <a:latin typeface="Calibri"/>
                  <a:ea typeface="Calibri"/>
                  <a:cs typeface="Calibri"/>
                  <a:sym typeface="Calibri"/>
                </a:rPr>
                <a:t>Listen ⇄ Process ⇄ Speak (Full-Duplex)</a:t>
              </a:r>
              <a:endParaRPr b="1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h25e1d19284b390e5_1_358"/>
          <p:cNvGrpSpPr/>
          <p:nvPr/>
        </p:nvGrpSpPr>
        <p:grpSpPr>
          <a:xfrm>
            <a:off x="4524375" y="1095375"/>
            <a:ext cx="7096200" cy="5334000"/>
            <a:chOff x="0" y="0"/>
            <a:chExt cx="7096200" cy="5334000"/>
          </a:xfrm>
        </p:grpSpPr>
        <p:sp>
          <p:nvSpPr>
            <p:cNvPr id="165" name="Google Shape;165;h25e1d19284b390e5_1_358"/>
            <p:cNvSpPr/>
            <p:nvPr/>
          </p:nvSpPr>
          <p:spPr>
            <a:xfrm>
              <a:off x="0" y="0"/>
              <a:ext cx="7096200" cy="53340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h25e1d19284b390e5_1_358"/>
            <p:cNvSpPr txBox="1"/>
            <p:nvPr/>
          </p:nvSpPr>
          <p:spPr>
            <a:xfrm>
              <a:off x="285750" y="190500"/>
              <a:ext cx="6524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581C87"/>
                  </a:solidFill>
                  <a:latin typeface="Calibri"/>
                  <a:ea typeface="Calibri"/>
                  <a:cs typeface="Calibri"/>
                  <a:sym typeface="Calibri"/>
                </a:rPr>
                <a:t>SYSTEM ARCHITECTURE &amp; INTERACTION FLOW</a:t>
              </a:r>
              <a:endParaRPr b="1" sz="1200">
                <a:solidFill>
                  <a:srgbClr val="581C8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7" name="Google Shape;167;h25e1d19284b390e5_1_358"/>
            <p:cNvGrpSpPr/>
            <p:nvPr/>
          </p:nvGrpSpPr>
          <p:grpSpPr>
            <a:xfrm>
              <a:off x="747713" y="1190625"/>
              <a:ext cx="966938" cy="3967238"/>
              <a:chOff x="271463" y="-2809875"/>
              <a:chExt cx="966938" cy="3967238"/>
            </a:xfrm>
          </p:grpSpPr>
          <p:pic>
            <p:nvPicPr>
              <p:cNvPr id="168" name="Google Shape;168;h25e1d19284b390e5_1_35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1463" y="-2776537"/>
                <a:ext cx="871500" cy="393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h25e1d19284b390e5_1_358"/>
              <p:cNvSpPr/>
              <p:nvPr/>
            </p:nvSpPr>
            <p:spPr>
              <a:xfrm>
                <a:off x="1143000" y="-280987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" name="Google Shape;170;h25e1d19284b390e5_1_358"/>
            <p:cNvGrpSpPr/>
            <p:nvPr/>
          </p:nvGrpSpPr>
          <p:grpSpPr>
            <a:xfrm>
              <a:off x="142875" y="2190750"/>
              <a:ext cx="1381200" cy="1285800"/>
              <a:chOff x="0" y="0"/>
              <a:chExt cx="1381200" cy="1285800"/>
            </a:xfrm>
          </p:grpSpPr>
          <p:sp>
            <p:nvSpPr>
              <p:cNvPr id="171" name="Google Shape;171;h25e1d19284b390e5_1_358"/>
              <p:cNvSpPr/>
              <p:nvPr/>
            </p:nvSpPr>
            <p:spPr>
              <a:xfrm>
                <a:off x="0" y="0"/>
                <a:ext cx="13812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FEF2F2"/>
              </a:solidFill>
              <a:ln cap="flat" cmpd="sng" w="14300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h25e1d19284b390e5_1_358"/>
              <p:cNvSpPr/>
              <p:nvPr/>
            </p:nvSpPr>
            <p:spPr>
              <a:xfrm>
                <a:off x="0" y="0"/>
                <a:ext cx="1381200" cy="247800"/>
              </a:xfrm>
              <a:prstGeom prst="roundRect">
                <a:avLst>
                  <a:gd fmla="val 30769" name="adj"/>
                </a:avLst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h25e1d19284b390e5_1_358"/>
              <p:cNvSpPr txBox="1"/>
              <p:nvPr/>
            </p:nvSpPr>
            <p:spPr>
              <a:xfrm>
                <a:off x="0" y="0"/>
                <a:ext cx="13812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⚡ INTERRUPT</a:t>
                </a:r>
                <a:endParaRPr b="1" sz="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h25e1d19284b390e5_1_358"/>
              <p:cNvSpPr txBox="1"/>
              <p:nvPr/>
            </p:nvSpPr>
            <p:spPr>
              <a:xfrm>
                <a:off x="95250" y="304800"/>
                <a:ext cx="11907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991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 starts speaking</a:t>
                </a:r>
                <a:endParaRPr b="1" sz="85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991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Detect via VAD</a:t>
                </a:r>
                <a:endParaRPr b="1" sz="85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991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Stop TTS instantly</a:t>
                </a:r>
                <a:endParaRPr b="1" sz="85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991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Process new input</a:t>
                </a:r>
                <a:endParaRPr b="1" sz="85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h25e1d19284b390e5_1_358"/>
            <p:cNvGrpSpPr/>
            <p:nvPr/>
          </p:nvGrpSpPr>
          <p:grpSpPr>
            <a:xfrm>
              <a:off x="2476500" y="619125"/>
              <a:ext cx="2000100" cy="438300"/>
              <a:chOff x="0" y="0"/>
              <a:chExt cx="2000100" cy="438300"/>
            </a:xfrm>
          </p:grpSpPr>
          <p:sp>
            <p:nvSpPr>
              <p:cNvPr id="176" name="Google Shape;176;h25e1d19284b390e5_1_358"/>
              <p:cNvSpPr/>
              <p:nvPr/>
            </p:nvSpPr>
            <p:spPr>
              <a:xfrm>
                <a:off x="0" y="0"/>
                <a:ext cx="2000100" cy="438300"/>
              </a:xfrm>
              <a:prstGeom prst="roundRect">
                <a:avLst>
                  <a:gd fmla="val 21739" name="adj"/>
                </a:avLst>
              </a:prstGeom>
              <a:solidFill>
                <a:srgbClr val="6B21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h25e1d19284b390e5_1_358"/>
              <p:cNvSpPr txBox="1"/>
              <p:nvPr/>
            </p:nvSpPr>
            <p:spPr>
              <a:xfrm>
                <a:off x="0" y="0"/>
                <a:ext cx="20001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🎙️ USER INPUT</a:t>
                </a:r>
                <a:endParaRPr b="1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78" name="Google Shape;178;h25e1d19284b390e5_1_35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62338" y="1057275"/>
              <a:ext cx="28500" cy="17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9" name="Google Shape;179;h25e1d19284b390e5_1_358"/>
            <p:cNvGrpSpPr/>
            <p:nvPr/>
          </p:nvGrpSpPr>
          <p:grpSpPr>
            <a:xfrm>
              <a:off x="2476500" y="1247775"/>
              <a:ext cx="2000100" cy="457200"/>
              <a:chOff x="0" y="0"/>
              <a:chExt cx="2000100" cy="457200"/>
            </a:xfrm>
          </p:grpSpPr>
          <p:sp>
            <p:nvSpPr>
              <p:cNvPr id="180" name="Google Shape;180;h25e1d19284b390e5_1_358"/>
              <p:cNvSpPr/>
              <p:nvPr/>
            </p:nvSpPr>
            <p:spPr>
              <a:xfrm>
                <a:off x="0" y="0"/>
                <a:ext cx="20001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F8F5FF"/>
              </a:solidFill>
              <a:ln cap="flat" cmpd="sng" w="14300">
                <a:solidFill>
                  <a:srgbClr val="A855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h25e1d19284b390e5_1_358"/>
              <p:cNvSpPr txBox="1"/>
              <p:nvPr/>
            </p:nvSpPr>
            <p:spPr>
              <a:xfrm>
                <a:off x="0" y="0"/>
                <a:ext cx="200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6B21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LiveKit</a:t>
                </a:r>
                <a:endParaRPr b="1" sz="1100">
                  <a:solidFill>
                    <a:srgbClr val="6B21A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Real-Time Transport</a:t>
                </a:r>
                <a:endParaRPr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" name="Google Shape;182;h25e1d19284b390e5_1_358"/>
            <p:cNvSpPr/>
            <p:nvPr/>
          </p:nvSpPr>
          <p:spPr>
            <a:xfrm>
              <a:off x="3476625" y="1704975"/>
              <a:ext cx="0" cy="1716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238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h25e1d19284b390e5_1_358"/>
            <p:cNvGrpSpPr/>
            <p:nvPr/>
          </p:nvGrpSpPr>
          <p:grpSpPr>
            <a:xfrm>
              <a:off x="2476500" y="1895475"/>
              <a:ext cx="2000100" cy="457200"/>
              <a:chOff x="0" y="0"/>
              <a:chExt cx="2000100" cy="457200"/>
            </a:xfrm>
          </p:grpSpPr>
          <p:sp>
            <p:nvSpPr>
              <p:cNvPr id="184" name="Google Shape;184;h25e1d19284b390e5_1_358"/>
              <p:cNvSpPr/>
              <p:nvPr/>
            </p:nvSpPr>
            <p:spPr>
              <a:xfrm>
                <a:off x="0" y="0"/>
                <a:ext cx="20001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F8F5FF"/>
              </a:solidFill>
              <a:ln cap="flat" cmpd="sng" w="14300">
                <a:solidFill>
                  <a:srgbClr val="A855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h25e1d19284b390e5_1_358"/>
              <p:cNvSpPr txBox="1"/>
              <p:nvPr/>
            </p:nvSpPr>
            <p:spPr>
              <a:xfrm>
                <a:off x="0" y="0"/>
                <a:ext cx="200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6B21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VAD</a:t>
                </a:r>
                <a:endParaRPr b="1" sz="1100">
                  <a:solidFill>
                    <a:srgbClr val="6B21A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Voice Activity Detection</a:t>
                </a:r>
                <a:endParaRPr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" name="Google Shape;186;h25e1d19284b390e5_1_358"/>
            <p:cNvSpPr/>
            <p:nvPr/>
          </p:nvSpPr>
          <p:spPr>
            <a:xfrm>
              <a:off x="3476625" y="2352675"/>
              <a:ext cx="0" cy="1716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238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h25e1d19284b390e5_1_358"/>
            <p:cNvGrpSpPr/>
            <p:nvPr/>
          </p:nvGrpSpPr>
          <p:grpSpPr>
            <a:xfrm>
              <a:off x="2476500" y="2543175"/>
              <a:ext cx="2000100" cy="457200"/>
              <a:chOff x="0" y="0"/>
              <a:chExt cx="2000100" cy="457200"/>
            </a:xfrm>
          </p:grpSpPr>
          <p:sp>
            <p:nvSpPr>
              <p:cNvPr id="188" name="Google Shape;188;h25e1d19284b390e5_1_358"/>
              <p:cNvSpPr/>
              <p:nvPr/>
            </p:nvSpPr>
            <p:spPr>
              <a:xfrm>
                <a:off x="0" y="0"/>
                <a:ext cx="20001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F8F5FF"/>
              </a:solidFill>
              <a:ln cap="flat" cmpd="sng" w="14300">
                <a:solidFill>
                  <a:srgbClr val="A855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h25e1d19284b390e5_1_358"/>
              <p:cNvSpPr txBox="1"/>
              <p:nvPr/>
            </p:nvSpPr>
            <p:spPr>
              <a:xfrm>
                <a:off x="0" y="0"/>
                <a:ext cx="200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6B21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STT</a:t>
                </a:r>
                <a:endParaRPr b="1" sz="1100">
                  <a:solidFill>
                    <a:srgbClr val="6B21A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Speech → Text</a:t>
                </a:r>
                <a:endParaRPr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" name="Google Shape;190;h25e1d19284b390e5_1_358"/>
            <p:cNvSpPr/>
            <p:nvPr/>
          </p:nvSpPr>
          <p:spPr>
            <a:xfrm>
              <a:off x="3476625" y="3000375"/>
              <a:ext cx="0" cy="1716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238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1" name="Google Shape;191;h25e1d19284b390e5_1_358"/>
            <p:cNvGrpSpPr/>
            <p:nvPr/>
          </p:nvGrpSpPr>
          <p:grpSpPr>
            <a:xfrm>
              <a:off x="2476500" y="3190875"/>
              <a:ext cx="2000100" cy="457200"/>
              <a:chOff x="0" y="0"/>
              <a:chExt cx="2000100" cy="457200"/>
            </a:xfrm>
          </p:grpSpPr>
          <p:sp>
            <p:nvSpPr>
              <p:cNvPr id="192" name="Google Shape;192;h25e1d19284b390e5_1_358"/>
              <p:cNvSpPr/>
              <p:nvPr/>
            </p:nvSpPr>
            <p:spPr>
              <a:xfrm>
                <a:off x="0" y="0"/>
                <a:ext cx="20001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F8F5FF"/>
              </a:solidFill>
              <a:ln cap="flat" cmpd="sng" w="14300">
                <a:solidFill>
                  <a:srgbClr val="A855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h25e1d19284b390e5_1_358"/>
              <p:cNvSpPr txBox="1"/>
              <p:nvPr/>
            </p:nvSpPr>
            <p:spPr>
              <a:xfrm>
                <a:off x="0" y="0"/>
                <a:ext cx="200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6B21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LLM</a:t>
                </a:r>
                <a:endParaRPr b="1" sz="1100">
                  <a:solidFill>
                    <a:srgbClr val="6B21A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Reason + Generate</a:t>
                </a:r>
                <a:endParaRPr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94" name="Google Shape;194;h25e1d19284b390e5_1_35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76750" y="3409950"/>
              <a:ext cx="3714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5" name="Google Shape;195;h25e1d19284b390e5_1_358"/>
            <p:cNvGrpSpPr/>
            <p:nvPr/>
          </p:nvGrpSpPr>
          <p:grpSpPr>
            <a:xfrm>
              <a:off x="4867275" y="3219450"/>
              <a:ext cx="1638300" cy="400200"/>
              <a:chOff x="-9525" y="-9525"/>
              <a:chExt cx="1638300" cy="400200"/>
            </a:xfrm>
          </p:grpSpPr>
          <p:pic>
            <p:nvPicPr>
              <p:cNvPr id="196" name="Google Shape;196;h25e1d19284b390e5_1_35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1638300" cy="4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" name="Google Shape;197;h25e1d19284b390e5_1_358"/>
              <p:cNvSpPr txBox="1"/>
              <p:nvPr/>
            </p:nvSpPr>
            <p:spPr>
              <a:xfrm>
                <a:off x="0" y="0"/>
                <a:ext cx="1619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1D4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Vision Module</a:t>
                </a:r>
                <a:endParaRPr sz="800">
                  <a:solidFill>
                    <a:srgbClr val="3B82F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" name="Google Shape;198;h25e1d19284b390e5_1_358"/>
            <p:cNvSpPr/>
            <p:nvPr/>
          </p:nvSpPr>
          <p:spPr>
            <a:xfrm>
              <a:off x="3476625" y="3648075"/>
              <a:ext cx="0" cy="1716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238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" name="Google Shape;199;h25e1d19284b390e5_1_358"/>
            <p:cNvGrpSpPr/>
            <p:nvPr/>
          </p:nvGrpSpPr>
          <p:grpSpPr>
            <a:xfrm>
              <a:off x="2476500" y="3838575"/>
              <a:ext cx="2000100" cy="457200"/>
              <a:chOff x="0" y="0"/>
              <a:chExt cx="2000100" cy="457200"/>
            </a:xfrm>
          </p:grpSpPr>
          <p:sp>
            <p:nvSpPr>
              <p:cNvPr id="200" name="Google Shape;200;h25e1d19284b390e5_1_358"/>
              <p:cNvSpPr/>
              <p:nvPr/>
            </p:nvSpPr>
            <p:spPr>
              <a:xfrm>
                <a:off x="0" y="0"/>
                <a:ext cx="20001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F8F5FF"/>
              </a:solidFill>
              <a:ln cap="flat" cmpd="sng" w="14300">
                <a:solidFill>
                  <a:srgbClr val="A855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h25e1d19284b390e5_1_358"/>
              <p:cNvSpPr txBox="1"/>
              <p:nvPr/>
            </p:nvSpPr>
            <p:spPr>
              <a:xfrm>
                <a:off x="0" y="0"/>
                <a:ext cx="200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6B21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TTS</a:t>
                </a:r>
                <a:endParaRPr b="1" sz="1100">
                  <a:solidFill>
                    <a:srgbClr val="6B21A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→ Speech</a:t>
                </a:r>
                <a:endParaRPr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h25e1d19284b390e5_1_358"/>
            <p:cNvSpPr/>
            <p:nvPr/>
          </p:nvSpPr>
          <p:spPr>
            <a:xfrm>
              <a:off x="3476625" y="4295775"/>
              <a:ext cx="0" cy="1716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238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" name="Google Shape;203;h25e1d19284b390e5_1_358"/>
            <p:cNvGrpSpPr/>
            <p:nvPr/>
          </p:nvGrpSpPr>
          <p:grpSpPr>
            <a:xfrm>
              <a:off x="2476500" y="4486275"/>
              <a:ext cx="2000100" cy="438300"/>
              <a:chOff x="0" y="0"/>
              <a:chExt cx="2000100" cy="438300"/>
            </a:xfrm>
          </p:grpSpPr>
          <p:sp>
            <p:nvSpPr>
              <p:cNvPr id="204" name="Google Shape;204;h25e1d19284b390e5_1_358"/>
              <p:cNvSpPr/>
              <p:nvPr/>
            </p:nvSpPr>
            <p:spPr>
              <a:xfrm>
                <a:off x="0" y="0"/>
                <a:ext cx="2000100" cy="438300"/>
              </a:xfrm>
              <a:prstGeom prst="roundRect">
                <a:avLst>
                  <a:gd fmla="val 21739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h25e1d19284b390e5_1_358"/>
              <p:cNvSpPr txBox="1"/>
              <p:nvPr/>
            </p:nvSpPr>
            <p:spPr>
              <a:xfrm>
                <a:off x="0" y="0"/>
                <a:ext cx="20001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🔊 USER AUDIO</a:t>
                </a:r>
                <a:endParaRPr b="1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pic>
        <p:nvPicPr>
          <p:cNvPr id="211" name="Google Shape;211;p5" title="Team Code4Fun - Vision Empowered Interruptable Ai Agen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6125" y="1541125"/>
            <a:ext cx="9684525" cy="49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25e1d19284b390e5_1_704"/>
          <p:cNvSpPr/>
          <p:nvPr/>
        </p:nvSpPr>
        <p:spPr>
          <a:xfrm>
            <a:off x="405325" y="-17227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</a:t>
            </a:r>
            <a:endParaRPr/>
          </a:p>
        </p:txBody>
      </p:sp>
      <p:sp>
        <p:nvSpPr>
          <p:cNvPr id="221" name="Google Shape;221;h25e1d19284b390e5_1_704"/>
          <p:cNvSpPr txBox="1"/>
          <p:nvPr/>
        </p:nvSpPr>
        <p:spPr>
          <a:xfrm>
            <a:off x="838200" y="304800"/>
            <a:ext cx="1051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60">
              <a:solidFill>
                <a:srgbClr val="4C1D95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22" name="Google Shape;222;h25e1d19284b390e5_1_704"/>
          <p:cNvGrpSpPr/>
          <p:nvPr/>
        </p:nvGrpSpPr>
        <p:grpSpPr>
          <a:xfrm>
            <a:off x="838200" y="990600"/>
            <a:ext cx="3352800" cy="2190900"/>
            <a:chOff x="0" y="0"/>
            <a:chExt cx="3352800" cy="2190900"/>
          </a:xfrm>
        </p:grpSpPr>
        <p:sp>
          <p:nvSpPr>
            <p:cNvPr id="223" name="Google Shape;223;h25e1d19284b390e5_1_704"/>
            <p:cNvSpPr/>
            <p:nvPr/>
          </p:nvSpPr>
          <p:spPr>
            <a:xfrm>
              <a:off x="0" y="0"/>
              <a:ext cx="33528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h25e1d19284b390e5_1_704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h25e1d19284b390e5_1_704"/>
            <p:cNvSpPr txBox="1"/>
            <p:nvPr/>
          </p:nvSpPr>
          <p:spPr>
            <a:xfrm>
              <a:off x="190500" y="190575"/>
              <a:ext cx="2971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REAL-TIME COMMUNICATION</a:t>
              </a:r>
              <a:endParaRPr b="1" sz="130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6" name="Google Shape;226;h25e1d19284b390e5_1_704"/>
            <p:cNvSpPr txBox="1"/>
            <p:nvPr/>
          </p:nvSpPr>
          <p:spPr>
            <a:xfrm>
              <a:off x="190500" y="552525"/>
              <a:ext cx="29718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LiveKit: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Real-time audio/video transport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LiveKit Agents: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Voice-agent framework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LiveKit Cloud: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Deployment/testing env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7" name="Google Shape;227;h25e1d19284b390e5_1_704"/>
          <p:cNvGrpSpPr/>
          <p:nvPr/>
        </p:nvGrpSpPr>
        <p:grpSpPr>
          <a:xfrm>
            <a:off x="4419600" y="990600"/>
            <a:ext cx="3352800" cy="2190900"/>
            <a:chOff x="0" y="0"/>
            <a:chExt cx="3352800" cy="2190900"/>
          </a:xfrm>
        </p:grpSpPr>
        <p:sp>
          <p:nvSpPr>
            <p:cNvPr id="228" name="Google Shape;228;h25e1d19284b390e5_1_704"/>
            <p:cNvSpPr/>
            <p:nvPr/>
          </p:nvSpPr>
          <p:spPr>
            <a:xfrm>
              <a:off x="0" y="0"/>
              <a:ext cx="33528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h25e1d19284b390e5_1_704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h25e1d19284b390e5_1_704"/>
            <p:cNvSpPr txBox="1"/>
            <p:nvPr/>
          </p:nvSpPr>
          <p:spPr>
            <a:xfrm>
              <a:off x="190500" y="190500"/>
              <a:ext cx="2971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VOICE PIPELINE</a:t>
              </a:r>
              <a:endParaRPr b="1" sz="13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1" name="Google Shape;231;h25e1d19284b390e5_1_704"/>
            <p:cNvSpPr txBox="1"/>
            <p:nvPr/>
          </p:nvSpPr>
          <p:spPr>
            <a:xfrm>
              <a:off x="262513" y="495300"/>
              <a:ext cx="2971800" cy="16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VAD (Silero):</a:t>
              </a: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Speech detection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STT (Deepgram Nova-3):</a:t>
              </a: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Speech → text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LLM (Google Gemma):</a:t>
              </a: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Response generation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TTS (Fish Audio S2.1 Pro):</a:t>
              </a: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Text → speech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h25e1d19284b390e5_1_704"/>
          <p:cNvGrpSpPr/>
          <p:nvPr/>
        </p:nvGrpSpPr>
        <p:grpSpPr>
          <a:xfrm>
            <a:off x="8001000" y="990600"/>
            <a:ext cx="3352800" cy="2190900"/>
            <a:chOff x="0" y="0"/>
            <a:chExt cx="3352800" cy="2190900"/>
          </a:xfrm>
        </p:grpSpPr>
        <p:sp>
          <p:nvSpPr>
            <p:cNvPr id="233" name="Google Shape;233;h25e1d19284b390e5_1_704"/>
            <p:cNvSpPr/>
            <p:nvPr/>
          </p:nvSpPr>
          <p:spPr>
            <a:xfrm>
              <a:off x="0" y="0"/>
              <a:ext cx="33528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h25e1d19284b390e5_1_704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h25e1d19284b390e5_1_704"/>
            <p:cNvSpPr txBox="1"/>
            <p:nvPr/>
          </p:nvSpPr>
          <p:spPr>
            <a:xfrm>
              <a:off x="190500" y="190500"/>
              <a:ext cx="2971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AI / VISION</a:t>
              </a:r>
              <a:endParaRPr b="1" sz="1300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6" name="Google Shape;236;h25e1d19284b390e5_1_704"/>
            <p:cNvSpPr txBox="1"/>
            <p:nvPr/>
          </p:nvSpPr>
          <p:spPr>
            <a:xfrm>
              <a:off x="190500" y="552450"/>
              <a:ext cx="29718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YOLO / YOLO Depth: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Object perception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PyTorch: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AI model execution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CUDA: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GPU acceleration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OpenCV: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Image &amp; camera processing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h25e1d19284b390e5_1_704"/>
          <p:cNvGrpSpPr/>
          <p:nvPr/>
        </p:nvGrpSpPr>
        <p:grpSpPr>
          <a:xfrm>
            <a:off x="838200" y="3390900"/>
            <a:ext cx="5105400" cy="3048000"/>
            <a:chOff x="0" y="0"/>
            <a:chExt cx="5105400" cy="3048000"/>
          </a:xfrm>
        </p:grpSpPr>
        <p:sp>
          <p:nvSpPr>
            <p:cNvPr id="238" name="Google Shape;238;h25e1d19284b390e5_1_704"/>
            <p:cNvSpPr/>
            <p:nvPr/>
          </p:nvSpPr>
          <p:spPr>
            <a:xfrm>
              <a:off x="0" y="0"/>
              <a:ext cx="51054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h25e1d19284b390e5_1_704"/>
            <p:cNvSpPr/>
            <p:nvPr/>
          </p:nvSpPr>
          <p:spPr>
            <a:xfrm>
              <a:off x="0" y="0"/>
              <a:ext cx="5105400" cy="57300"/>
            </a:xfrm>
            <a:prstGeom prst="roundRect">
              <a:avLst>
                <a:gd fmla="val 50000" name="adj"/>
              </a:avLst>
            </a:prstGeom>
            <a:solidFill>
              <a:srgbClr val="4C1D9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h25e1d19284b390e5_1_704"/>
            <p:cNvSpPr txBox="1"/>
            <p:nvPr/>
          </p:nvSpPr>
          <p:spPr>
            <a:xfrm>
              <a:off x="228600" y="209550"/>
              <a:ext cx="464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C1D95"/>
                  </a:solidFill>
                  <a:latin typeface="Inter"/>
                  <a:ea typeface="Inter"/>
                  <a:cs typeface="Inter"/>
                  <a:sym typeface="Inter"/>
                </a:rPr>
                <a:t>DEVELOPMENT ENVIRONMENT</a:t>
              </a:r>
              <a:endParaRPr b="1" sz="1300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1" name="Google Shape;241;h25e1d19284b390e5_1_704"/>
            <p:cNvSpPr txBox="1"/>
            <p:nvPr/>
          </p:nvSpPr>
          <p:spPr>
            <a:xfrm>
              <a:off x="228600" y="609600"/>
              <a:ext cx="46482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Python: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Core development language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Git &amp; GitHub: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Version control &amp; collaboration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VS Code: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Primary integrated development environment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PowerShell: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Terminal scripting &amp; automation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FFmpeg: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High-performance audio/video processing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Virtual Environment (venv):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Dependency isolation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h25e1d19284b390e5_1_704"/>
          <p:cNvGrpSpPr/>
          <p:nvPr/>
        </p:nvGrpSpPr>
        <p:grpSpPr>
          <a:xfrm>
            <a:off x="6248400" y="3390900"/>
            <a:ext cx="5105400" cy="3048000"/>
            <a:chOff x="0" y="0"/>
            <a:chExt cx="5105400" cy="3048000"/>
          </a:xfrm>
        </p:grpSpPr>
        <p:sp>
          <p:nvSpPr>
            <p:cNvPr id="243" name="Google Shape;243;h25e1d19284b390e5_1_704"/>
            <p:cNvSpPr/>
            <p:nvPr/>
          </p:nvSpPr>
          <p:spPr>
            <a:xfrm>
              <a:off x="0" y="0"/>
              <a:ext cx="51054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h25e1d19284b390e5_1_704"/>
            <p:cNvSpPr/>
            <p:nvPr/>
          </p:nvSpPr>
          <p:spPr>
            <a:xfrm>
              <a:off x="0" y="0"/>
              <a:ext cx="5105400" cy="57300"/>
            </a:xfrm>
            <a:prstGeom prst="roundRect">
              <a:avLst>
                <a:gd fmla="val 50000" name="adj"/>
              </a:avLst>
            </a:prstGeom>
            <a:solidFill>
              <a:srgbClr val="5B21B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h25e1d19284b390e5_1_704"/>
            <p:cNvSpPr txBox="1"/>
            <p:nvPr/>
          </p:nvSpPr>
          <p:spPr>
            <a:xfrm>
              <a:off x="228600" y="181050"/>
              <a:ext cx="464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5B21B6"/>
                  </a:solidFill>
                  <a:latin typeface="Inter"/>
                  <a:ea typeface="Inter"/>
                  <a:cs typeface="Inter"/>
                  <a:sym typeface="Inter"/>
                </a:rPr>
                <a:t>TESTING &amp; BENCHMARKING</a:t>
              </a:r>
              <a:endParaRPr b="1" sz="1300">
                <a:solidFill>
                  <a:srgbClr val="5B21B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6" name="Google Shape;246;h25e1d19284b390e5_1_704"/>
            <p:cNvSpPr txBox="1"/>
            <p:nvPr/>
          </p:nvSpPr>
          <p:spPr>
            <a:xfrm>
              <a:off x="228600" y="609600"/>
              <a:ext cx="46482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Full-Duplex-Bench v3: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Evaluation framework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FDB-v3 Scenarios: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Standardized conversational tests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Latency Measurement: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End-to-end response timing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Interruption Evaluation: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Barge-in capability validation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Task Completion: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Accuracy &amp; success rate metrics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47" name="Google Shape;247;h25e1d19284b390e5_1_7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6475" y="2389231"/>
            <a:ext cx="1481699" cy="660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h25e1d19284b390e5_1_704"/>
          <p:cNvPicPr preferRelativeResize="0"/>
          <p:nvPr/>
        </p:nvPicPr>
        <p:blipFill rotWithShape="1">
          <a:blip r:embed="rId5">
            <a:alphaModFix/>
          </a:blip>
          <a:srcRect b="0" l="-16320" r="0" t="-16320"/>
          <a:stretch/>
        </p:blipFill>
        <p:spPr>
          <a:xfrm>
            <a:off x="8145025" y="2626503"/>
            <a:ext cx="1280100" cy="423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h25e1d19284b390e5_1_7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97750" y="2652913"/>
            <a:ext cx="1058472" cy="5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h25e1d19284b390e5_1_70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86399" y="2679325"/>
            <a:ext cx="3019195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h25e1d19284b390e5_1_70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57038" y="5478075"/>
            <a:ext cx="856075" cy="78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h25e1d19284b390e5_1_70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4250" y="5707400"/>
            <a:ext cx="660550" cy="66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h25e1d19284b390e5_1_70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87722" y="5707381"/>
            <a:ext cx="660550" cy="660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h25e1d19284b390e5_1_70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27925" y="5707400"/>
            <a:ext cx="660550" cy="6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25e1d19284b390e5_1_914"/>
          <p:cNvSpPr txBox="1"/>
          <p:nvPr/>
        </p:nvSpPr>
        <p:spPr>
          <a:xfrm>
            <a:off x="838200" y="247500"/>
            <a:ext cx="1051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4C1D95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64" name="Google Shape;264;h25e1d19284b390e5_1_914"/>
          <p:cNvGrpSpPr/>
          <p:nvPr/>
        </p:nvGrpSpPr>
        <p:grpSpPr>
          <a:xfrm>
            <a:off x="838200" y="914400"/>
            <a:ext cx="3352800" cy="1905000"/>
            <a:chOff x="0" y="0"/>
            <a:chExt cx="3352800" cy="1905000"/>
          </a:xfrm>
        </p:grpSpPr>
        <p:sp>
          <p:nvSpPr>
            <p:cNvPr id="265" name="Google Shape;265;h25e1d19284b390e5_1_914"/>
            <p:cNvSpPr/>
            <p:nvPr/>
          </p:nvSpPr>
          <p:spPr>
            <a:xfrm>
              <a:off x="0" y="0"/>
              <a:ext cx="33528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h25e1d19284b390e5_1_914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h25e1d19284b390e5_1_914"/>
            <p:cNvSpPr txBox="1"/>
            <p:nvPr/>
          </p:nvSpPr>
          <p:spPr>
            <a:xfrm>
              <a:off x="228600" y="190500"/>
              <a:ext cx="28956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WHY IT MATTERS</a:t>
              </a:r>
              <a:endParaRPr b="1" sz="130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Current voice AI often feels like talking to a machine.</a:t>
              </a:r>
              <a:endParaRPr b="0" sz="125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Our goal is to make AI interaction feel natural, responsive, and human-like by allowing real-time listening, responding, and interruption handling.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8" name="Google Shape;268;h25e1d19284b390e5_1_914"/>
          <p:cNvGrpSpPr/>
          <p:nvPr/>
        </p:nvGrpSpPr>
        <p:grpSpPr>
          <a:xfrm>
            <a:off x="4419600" y="914400"/>
            <a:ext cx="6934200" cy="1905000"/>
            <a:chOff x="0" y="0"/>
            <a:chExt cx="6934200" cy="1905000"/>
          </a:xfrm>
        </p:grpSpPr>
        <p:sp>
          <p:nvSpPr>
            <p:cNvPr id="269" name="Google Shape;269;h25e1d19284b390e5_1_914"/>
            <p:cNvSpPr/>
            <p:nvPr/>
          </p:nvSpPr>
          <p:spPr>
            <a:xfrm>
              <a:off x="0" y="0"/>
              <a:ext cx="6934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h25e1d19284b390e5_1_914"/>
            <p:cNvSpPr/>
            <p:nvPr/>
          </p:nvSpPr>
          <p:spPr>
            <a:xfrm>
              <a:off x="0" y="0"/>
              <a:ext cx="6934200" cy="573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h25e1d19284b390e5_1_914"/>
            <p:cNvSpPr txBox="1"/>
            <p:nvPr/>
          </p:nvSpPr>
          <p:spPr>
            <a:xfrm>
              <a:off x="228600" y="190500"/>
              <a:ext cx="6477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KEY IMPACT</a:t>
              </a:r>
              <a:endParaRPr b="1" sz="13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More Natural Conversations:</a:t>
              </a: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AI can handle interruptions and overlapping speech seamless context.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Lower Interaction Friction:</a:t>
              </a: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Users don't have to wait for the AI agent to finish speaking.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Faster Responses:</a:t>
              </a: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Continuous stream processing drastically reduces perceived latency.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Better Accessibility:</a:t>
              </a: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Voice-first interaction becomes practical for everyday hands-free use.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Human-Like Interaction:</a:t>
              </a: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Shifts AI dynamics from rigid command-response toward dynamic dialogue.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2" name="Google Shape;272;h25e1d19284b390e5_1_914"/>
          <p:cNvSpPr txBox="1"/>
          <p:nvPr/>
        </p:nvSpPr>
        <p:spPr>
          <a:xfrm>
            <a:off x="838200" y="3009900"/>
            <a:ext cx="10515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rPr>
              <a:t>REAL-WORLD USE CASES</a:t>
            </a:r>
            <a:endParaRPr b="1" sz="1100">
              <a:solidFill>
                <a:srgbClr val="4C1D9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3" name="Google Shape;273;h25e1d19284b390e5_1_914"/>
          <p:cNvGrpSpPr/>
          <p:nvPr/>
        </p:nvGrpSpPr>
        <p:grpSpPr>
          <a:xfrm>
            <a:off x="838200" y="3333750"/>
            <a:ext cx="3352800" cy="1143000"/>
            <a:chOff x="0" y="0"/>
            <a:chExt cx="3352800" cy="1143000"/>
          </a:xfrm>
        </p:grpSpPr>
        <p:sp>
          <p:nvSpPr>
            <p:cNvPr id="274" name="Google Shape;274;h25e1d19284b390e5_1_914"/>
            <p:cNvSpPr/>
            <p:nvPr/>
          </p:nvSpPr>
          <p:spPr>
            <a:xfrm>
              <a:off x="0" y="0"/>
              <a:ext cx="33528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h25e1d19284b390e5_1_914"/>
            <p:cNvSpPr txBox="1"/>
            <p:nvPr/>
          </p:nvSpPr>
          <p:spPr>
            <a:xfrm>
              <a:off x="171450" y="152400"/>
              <a:ext cx="30099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🧑‍🦯 Vision Guide</a:t>
              </a:r>
              <a:endParaRPr b="1" sz="120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Real-time audio guidance for </a:t>
              </a:r>
              <a:r>
                <a:rPr b="1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visually impaired users </a:t>
              </a: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by combining camera scene understanding with interruptible voice.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h25e1d19284b390e5_1_914"/>
          <p:cNvGrpSpPr/>
          <p:nvPr/>
        </p:nvGrpSpPr>
        <p:grpSpPr>
          <a:xfrm>
            <a:off x="4419600" y="3333750"/>
            <a:ext cx="3352800" cy="1143000"/>
            <a:chOff x="0" y="0"/>
            <a:chExt cx="3352800" cy="1143000"/>
          </a:xfrm>
        </p:grpSpPr>
        <p:sp>
          <p:nvSpPr>
            <p:cNvPr id="277" name="Google Shape;277;h25e1d19284b390e5_1_914"/>
            <p:cNvSpPr/>
            <p:nvPr/>
          </p:nvSpPr>
          <p:spPr>
            <a:xfrm>
              <a:off x="0" y="0"/>
              <a:ext cx="33528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h25e1d19284b390e5_1_914"/>
            <p:cNvSpPr txBox="1"/>
            <p:nvPr/>
          </p:nvSpPr>
          <p:spPr>
            <a:xfrm>
              <a:off x="171450" y="152400"/>
              <a:ext cx="30099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📞 Customer Support</a:t>
              </a:r>
              <a:endParaRPr b="1" sz="120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Users can interrupt, correct details, or pivot requests instantly without restarting the interaction workflow.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9" name="Google Shape;279;h25e1d19284b390e5_1_914"/>
          <p:cNvGrpSpPr/>
          <p:nvPr/>
        </p:nvGrpSpPr>
        <p:grpSpPr>
          <a:xfrm>
            <a:off x="8001000" y="3333750"/>
            <a:ext cx="3352800" cy="1143000"/>
            <a:chOff x="0" y="0"/>
            <a:chExt cx="3352800" cy="1143000"/>
          </a:xfrm>
        </p:grpSpPr>
        <p:sp>
          <p:nvSpPr>
            <p:cNvPr id="280" name="Google Shape;280;h25e1d19284b390e5_1_914"/>
            <p:cNvSpPr/>
            <p:nvPr/>
          </p:nvSpPr>
          <p:spPr>
            <a:xfrm>
              <a:off x="0" y="0"/>
              <a:ext cx="33528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h25e1d19284b390e5_1_914"/>
            <p:cNvSpPr txBox="1"/>
            <p:nvPr/>
          </p:nvSpPr>
          <p:spPr>
            <a:xfrm>
              <a:off x="171450" y="152400"/>
              <a:ext cx="30099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🚗 In-Car Assistants</a:t>
              </a:r>
              <a:endParaRPr b="1" sz="120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Drivers can naturally speak over the assistant while keeping their focus and eyes safely on the road.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2" name="Google Shape;282;h25e1d19284b390e5_1_914"/>
          <p:cNvGrpSpPr/>
          <p:nvPr/>
        </p:nvGrpSpPr>
        <p:grpSpPr>
          <a:xfrm>
            <a:off x="2628900" y="4610100"/>
            <a:ext cx="3352800" cy="1143000"/>
            <a:chOff x="0" y="0"/>
            <a:chExt cx="3352800" cy="1143000"/>
          </a:xfrm>
        </p:grpSpPr>
        <p:sp>
          <p:nvSpPr>
            <p:cNvPr id="283" name="Google Shape;283;h25e1d19284b390e5_1_914"/>
            <p:cNvSpPr/>
            <p:nvPr/>
          </p:nvSpPr>
          <p:spPr>
            <a:xfrm>
              <a:off x="0" y="0"/>
              <a:ext cx="33528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h25e1d19284b390e5_1_914"/>
            <p:cNvSpPr txBox="1"/>
            <p:nvPr/>
          </p:nvSpPr>
          <p:spPr>
            <a:xfrm>
              <a:off x="171450" y="152400"/>
              <a:ext cx="30099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🏥 Healthcare Assistants</a:t>
              </a:r>
              <a:endParaRPr b="1" sz="120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Fast, hands-free interaction where users or medical staff can clarify or interrupt the agent instantly.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" name="Google Shape;285;h25e1d19284b390e5_1_914"/>
          <p:cNvGrpSpPr/>
          <p:nvPr/>
        </p:nvGrpSpPr>
        <p:grpSpPr>
          <a:xfrm>
            <a:off x="6210300" y="4610100"/>
            <a:ext cx="3352800" cy="1143000"/>
            <a:chOff x="0" y="0"/>
            <a:chExt cx="3352800" cy="1143000"/>
          </a:xfrm>
        </p:grpSpPr>
        <p:sp>
          <p:nvSpPr>
            <p:cNvPr id="286" name="Google Shape;286;h25e1d19284b390e5_1_914"/>
            <p:cNvSpPr/>
            <p:nvPr/>
          </p:nvSpPr>
          <p:spPr>
            <a:xfrm>
              <a:off x="0" y="0"/>
              <a:ext cx="33528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h25e1d19284b390e5_1_914"/>
            <p:cNvSpPr txBox="1"/>
            <p:nvPr/>
          </p:nvSpPr>
          <p:spPr>
            <a:xfrm>
              <a:off x="171450" y="152400"/>
              <a:ext cx="30099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🎓 Education &amp; Tutoring</a:t>
              </a:r>
              <a:endParaRPr b="1" sz="120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Students can ask follow-up questions mid-explanation rather than waiting for long monologues to conclude.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8" name="Google Shape;288;h25e1d19284b390e5_1_914"/>
          <p:cNvGrpSpPr/>
          <p:nvPr/>
        </p:nvGrpSpPr>
        <p:grpSpPr>
          <a:xfrm>
            <a:off x="838200" y="5943600"/>
            <a:ext cx="10515600" cy="495300"/>
            <a:chOff x="0" y="0"/>
            <a:chExt cx="10515600" cy="495300"/>
          </a:xfrm>
        </p:grpSpPr>
        <p:sp>
          <p:nvSpPr>
            <p:cNvPr id="289" name="Google Shape;289;h25e1d19284b390e5_1_914"/>
            <p:cNvSpPr/>
            <p:nvPr/>
          </p:nvSpPr>
          <p:spPr>
            <a:xfrm>
              <a:off x="0" y="0"/>
              <a:ext cx="10515600" cy="495300"/>
            </a:xfrm>
            <a:prstGeom prst="roundRect">
              <a:avLst>
                <a:gd fmla="val 15384" name="adj"/>
              </a:avLst>
            </a:prstGeom>
            <a:solidFill>
              <a:srgbClr val="F3E8FF"/>
            </a:solidFill>
            <a:ln cap="flat" cmpd="sng" w="9525">
              <a:solidFill>
                <a:srgbClr val="DDD6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h25e1d19284b390e5_1_914"/>
            <p:cNvSpPr txBox="1"/>
            <p:nvPr/>
          </p:nvSpPr>
          <p:spPr>
            <a:xfrm>
              <a:off x="190500" y="0"/>
              <a:ext cx="101346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5B21B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Our Vision: </a:t>
              </a:r>
              <a:r>
                <a:rPr b="1" i="1" lang="en-US" sz="1150">
                  <a:solidFill>
                    <a:srgbClr val="5B21B6"/>
                  </a:solidFill>
                  <a:latin typeface="Inter"/>
                  <a:ea typeface="Inter"/>
                  <a:cs typeface="Inter"/>
                  <a:sym typeface="Inter"/>
                </a:rPr>
                <a:t>From AI that waits for its turn ➔ to AI that understands the flow of conversation</a:t>
              </a:r>
              <a:endParaRPr b="0" sz="1150">
                <a:solidFill>
                  <a:srgbClr val="5B21B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25e1d19284b390e5_1_1665"/>
          <p:cNvSpPr txBox="1"/>
          <p:nvPr/>
        </p:nvSpPr>
        <p:spPr>
          <a:xfrm>
            <a:off x="838200" y="2077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4C1D95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00" name="Google Shape;300;h25e1d19284b390e5_1_1665"/>
          <p:cNvGrpSpPr/>
          <p:nvPr/>
        </p:nvGrpSpPr>
        <p:grpSpPr>
          <a:xfrm>
            <a:off x="838200" y="914400"/>
            <a:ext cx="3352800" cy="5486400"/>
            <a:chOff x="0" y="0"/>
            <a:chExt cx="3352800" cy="5486400"/>
          </a:xfrm>
        </p:grpSpPr>
        <p:sp>
          <p:nvSpPr>
            <p:cNvPr id="301" name="Google Shape;301;h25e1d19284b390e5_1_1665"/>
            <p:cNvSpPr/>
            <p:nvPr/>
          </p:nvSpPr>
          <p:spPr>
            <a:xfrm>
              <a:off x="0" y="0"/>
              <a:ext cx="3352800" cy="5486400"/>
            </a:xfrm>
            <a:prstGeom prst="roundRect">
              <a:avLst>
                <a:gd fmla="val 34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h25e1d19284b390e5_1_1665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h25e1d19284b390e5_1_1665"/>
            <p:cNvSpPr txBox="1"/>
            <p:nvPr/>
          </p:nvSpPr>
          <p:spPr>
            <a:xfrm>
              <a:off x="190500" y="190500"/>
              <a:ext cx="2971800" cy="51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6D28D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INNOVATION HIGHLIGHTS</a:t>
              </a:r>
              <a:endParaRPr b="0">
                <a:solidFill>
                  <a:srgbClr val="6D28D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C1D95"/>
                  </a:solidFill>
                  <a:latin typeface="Inter"/>
                  <a:ea typeface="Inter"/>
                  <a:cs typeface="Inter"/>
                  <a:sym typeface="Inter"/>
                </a:rPr>
                <a:t> Full-Duplex Agent</a:t>
              </a:r>
              <a:endParaRPr b="1" sz="1250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Turn-taking: 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Listens while speaking instead of waiting for a turn.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Speech detection: 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Detects user speech &amp; halts response instantly.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Natural flow: 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Human-like dialogue interaction.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C1D95"/>
                  </a:solidFill>
                  <a:latin typeface="Inter"/>
                  <a:ea typeface="Inter"/>
                  <a:cs typeface="Inter"/>
                  <a:sym typeface="Inter"/>
                </a:rPr>
                <a:t> Real-Time Processing</a:t>
              </a:r>
              <a:endParaRPr b="1" sz="1250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Streaming Pipeline: 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Seamless integration across STT → LLM → TTS.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Low Latency: 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Heavy focus on reducing response &amp; barge-in delay.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C1D95"/>
                  </a:solidFill>
                  <a:latin typeface="Inter"/>
                  <a:ea typeface="Inter"/>
                  <a:cs typeface="Inter"/>
                  <a:sym typeface="Inter"/>
                </a:rPr>
                <a:t> Vision-Enabled AI</a:t>
              </a:r>
              <a:endParaRPr b="1" sz="1250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Spatial Perception: 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Camera + YOLO + depth understanding.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Real-Time Guidance: 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Converts visual data into voice prompts.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300"/>
                </a:spcAft>
                <a:buSzPts val="140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Accessibility Focus: 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Designed for visually impaired navigation.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4" name="Google Shape;304;h25e1d19284b390e5_1_1665"/>
          <p:cNvGrpSpPr/>
          <p:nvPr/>
        </p:nvGrpSpPr>
        <p:grpSpPr>
          <a:xfrm>
            <a:off x="4419600" y="914400"/>
            <a:ext cx="3352800" cy="5486400"/>
            <a:chOff x="0" y="0"/>
            <a:chExt cx="3352800" cy="5486400"/>
          </a:xfrm>
        </p:grpSpPr>
        <p:sp>
          <p:nvSpPr>
            <p:cNvPr id="305" name="Google Shape;305;h25e1d19284b390e5_1_1665"/>
            <p:cNvSpPr/>
            <p:nvPr/>
          </p:nvSpPr>
          <p:spPr>
            <a:xfrm>
              <a:off x="0" y="0"/>
              <a:ext cx="3352800" cy="5486400"/>
            </a:xfrm>
            <a:prstGeom prst="roundRect">
              <a:avLst>
                <a:gd fmla="val 34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h25e1d19284b390e5_1_1665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h25e1d19284b390e5_1_1665"/>
            <p:cNvSpPr txBox="1"/>
            <p:nvPr/>
          </p:nvSpPr>
          <p:spPr>
            <a:xfrm>
              <a:off x="190500" y="190500"/>
              <a:ext cx="2971800" cy="51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RESULTS &amp; MILESTONES</a:t>
              </a:r>
              <a:endParaRPr b="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LiveKit Implementation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Successfully built &amp; tested a LiveKit-based real-time voice agent.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Interruption Handling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Implemented instant interruption detection and response cancellation.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Benchmarking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Rigorously tested using Full-Duplex-Bench v3 standardized scenarios.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Multimodal Vision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Extended agent capabilities beyond voice with the Vision Guide concept.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Bottleneck Profiling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120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Mapped major latency bottlenecks across VAD → STT → LLM → TTS → Vision.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8" name="Google Shape;308;h25e1d19284b390e5_1_1665"/>
          <p:cNvGrpSpPr/>
          <p:nvPr/>
        </p:nvGrpSpPr>
        <p:grpSpPr>
          <a:xfrm>
            <a:off x="8001000" y="914400"/>
            <a:ext cx="3352800" cy="5486400"/>
            <a:chOff x="0" y="0"/>
            <a:chExt cx="3352800" cy="5486400"/>
          </a:xfrm>
        </p:grpSpPr>
        <p:sp>
          <p:nvSpPr>
            <p:cNvPr id="309" name="Google Shape;309;h25e1d19284b390e5_1_1665"/>
            <p:cNvSpPr/>
            <p:nvPr/>
          </p:nvSpPr>
          <p:spPr>
            <a:xfrm>
              <a:off x="0" y="0"/>
              <a:ext cx="3352800" cy="5486400"/>
            </a:xfrm>
            <a:prstGeom prst="roundRect">
              <a:avLst>
                <a:gd fmla="val 34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h25e1d19284b390e5_1_1665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h25e1d19284b390e5_1_1665"/>
            <p:cNvSpPr txBox="1"/>
            <p:nvPr/>
          </p:nvSpPr>
          <p:spPr>
            <a:xfrm>
              <a:off x="190500" y="190500"/>
              <a:ext cx="2971800" cy="51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LIMITATIONS &amp; CHALLENGES</a:t>
              </a:r>
              <a:endParaRPr b="0">
                <a:solidFill>
                  <a:srgbClr val="DC262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Interruption Latency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Barge-in latency still requires further performance optimization.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Vision Overhead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Vision models introduce significant GPU/CUDA initialization &amp; inference delays.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Compute Load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Continuous vision + voice stream drastically raises system requirements.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STT Fragmentation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Speech recognition occasionally splits speech into tiny sub-segments.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Acoustic Noise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1200"/>
                </a:spcAft>
                <a:buSzPts val="16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Real-world noisy environments degrade interruption detection accuracy.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25e1d19284b390e5_1_2049"/>
          <p:cNvSpPr txBox="1"/>
          <p:nvPr/>
        </p:nvSpPr>
        <p:spPr>
          <a:xfrm>
            <a:off x="838200" y="457200"/>
            <a:ext cx="10515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60">
              <a:solidFill>
                <a:srgbClr val="3B0764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21" name="Google Shape;321;h25e1d19284b390e5_1_2049"/>
          <p:cNvGrpSpPr/>
          <p:nvPr/>
        </p:nvGrpSpPr>
        <p:grpSpPr>
          <a:xfrm>
            <a:off x="838200" y="1143000"/>
            <a:ext cx="5105400" cy="5143500"/>
            <a:chOff x="0" y="0"/>
            <a:chExt cx="5105400" cy="5143500"/>
          </a:xfrm>
        </p:grpSpPr>
        <p:sp>
          <p:nvSpPr>
            <p:cNvPr id="322" name="Google Shape;322;h25e1d19284b390e5_1_2049"/>
            <p:cNvSpPr/>
            <p:nvPr/>
          </p:nvSpPr>
          <p:spPr>
            <a:xfrm>
              <a:off x="0" y="0"/>
              <a:ext cx="5105400" cy="5143500"/>
            </a:xfrm>
            <a:prstGeom prst="roundRect">
              <a:avLst>
                <a:gd fmla="val 29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h25e1d19284b390e5_1_2049"/>
            <p:cNvSpPr/>
            <p:nvPr/>
          </p:nvSpPr>
          <p:spPr>
            <a:xfrm>
              <a:off x="0" y="0"/>
              <a:ext cx="5105400" cy="762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h25e1d19284b390e5_1_2049"/>
            <p:cNvSpPr txBox="1"/>
            <p:nvPr/>
          </p:nvSpPr>
          <p:spPr>
            <a:xfrm>
              <a:off x="304800" y="304800"/>
              <a:ext cx="4495800" cy="45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MULTIMODAL INTELLIGENCE</a:t>
              </a:r>
              <a:endParaRPr sz="17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Move Beyond Voice-Only Interaction</a:t>
              </a:r>
              <a:endParaRPr b="1" sz="17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Expand standard conversational AI capabilities by fusing multiple sensory input streams into a unified perception layer.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5B21B6"/>
                  </a:solidFill>
                  <a:highlight>
                    <a:srgbClr val="F3E8FF"/>
                  </a:highlight>
                  <a:latin typeface="Inter"/>
                  <a:ea typeface="Inter"/>
                  <a:cs typeface="Inter"/>
                  <a:sym typeface="Inter"/>
                </a:rPr>
                <a:t>Core Modality Fusion</a:t>
              </a:r>
              <a:endParaRPr b="1">
                <a:solidFill>
                  <a:srgbClr val="5B21B6"/>
                </a:solidFill>
                <a:highlight>
                  <a:srgbClr val="F3E8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C1D95"/>
                  </a:solidFill>
                  <a:highlight>
                    <a:srgbClr val="F3E8FF"/>
                  </a:highlight>
                  <a:latin typeface="Inter"/>
                  <a:ea typeface="Inter"/>
                  <a:cs typeface="Inter"/>
                  <a:sym typeface="Inter"/>
                </a:rPr>
                <a:t>Allows the agent to contextually understand what the user says + what the user sees simultaneously in real-time.</a:t>
              </a:r>
              <a:endParaRPr sz="1300">
                <a:solidFill>
                  <a:srgbClr val="4C1D95"/>
                </a:solidFill>
                <a:highlight>
                  <a:srgbClr val="F3E8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Capabilities Engine</a:t>
              </a:r>
              <a:endParaRPr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900"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🎙️</a:t>
              </a:r>
              <a:r>
                <a:rPr lang="en-US" sz="1700"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300">
                  <a:solidFill>
                    <a:srgbClr val="6D28D9"/>
                  </a:solidFill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Voice</a:t>
              </a:r>
              <a:r>
                <a:rPr lang="en-US" sz="1700"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900"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👁️</a:t>
              </a:r>
              <a:r>
                <a:rPr lang="en-US" sz="1700"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300">
                  <a:solidFill>
                    <a:srgbClr val="6D28D9"/>
                  </a:solidFill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Vision</a:t>
              </a:r>
              <a:r>
                <a:rPr lang="en-US" sz="1700"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900"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🧠</a:t>
              </a:r>
              <a:r>
                <a:rPr lang="en-US" sz="1700"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300">
                  <a:solidFill>
                    <a:srgbClr val="6D28D9"/>
                  </a:solidFill>
                  <a:highlight>
                    <a:srgbClr val="FAF5FF"/>
                  </a:highlight>
                  <a:latin typeface="Inter"/>
                  <a:ea typeface="Inter"/>
                  <a:cs typeface="Inter"/>
                  <a:sym typeface="Inter"/>
                </a:rPr>
                <a:t>Reasoning</a:t>
              </a:r>
              <a:endParaRPr sz="1700">
                <a:highlight>
                  <a:srgbClr val="FAF5FF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5" name="Google Shape;325;h25e1d19284b390e5_1_2049"/>
          <p:cNvGrpSpPr/>
          <p:nvPr/>
        </p:nvGrpSpPr>
        <p:grpSpPr>
          <a:xfrm>
            <a:off x="6248400" y="1143000"/>
            <a:ext cx="5105400" cy="5143500"/>
            <a:chOff x="0" y="0"/>
            <a:chExt cx="5105400" cy="5143500"/>
          </a:xfrm>
        </p:grpSpPr>
        <p:sp>
          <p:nvSpPr>
            <p:cNvPr id="326" name="Google Shape;326;h25e1d19284b390e5_1_2049"/>
            <p:cNvSpPr/>
            <p:nvPr/>
          </p:nvSpPr>
          <p:spPr>
            <a:xfrm>
              <a:off x="0" y="0"/>
              <a:ext cx="5105400" cy="5143500"/>
            </a:xfrm>
            <a:prstGeom prst="roundRect">
              <a:avLst>
                <a:gd fmla="val 29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h25e1d19284b390e5_1_2049"/>
            <p:cNvSpPr/>
            <p:nvPr/>
          </p:nvSpPr>
          <p:spPr>
            <a:xfrm>
              <a:off x="0" y="0"/>
              <a:ext cx="5105400" cy="762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h25e1d19284b390e5_1_2049"/>
            <p:cNvSpPr txBox="1"/>
            <p:nvPr/>
          </p:nvSpPr>
          <p:spPr>
            <a:xfrm>
              <a:off x="304800" y="304800"/>
              <a:ext cx="4495800" cy="45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REAL-WORLD DEPLOYMENT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Robustness &amp; Environment Testing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Test in noisy environments</a:t>
              </a:r>
              <a:endParaRPr b="1" sz="1250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Ensure acoustic filters &amp; VAD preserve accuracy under heavy background noise.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Diverse speaking styles</a:t>
              </a:r>
              <a:endParaRPr b="1" sz="1250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Train and validate against different dialects, accents, cadences, and rapid mid-sentence interruptions.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Hardware &amp; System Optimization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Optimize for edge/GPU devices</a:t>
              </a:r>
              <a:endParaRPr b="1" sz="1250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Minimize memory footprint and inference latency for local multi-model execution.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Improve reliability &amp; scalability</a:t>
              </a:r>
              <a:endParaRPr b="1" sz="1250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Harden system pipelines for seamless failovers, lower continuous stream compute load, and enterprise readiness.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h25e1d19284b390e5_1_2452"/>
          <p:cNvGrpSpPr/>
          <p:nvPr/>
        </p:nvGrpSpPr>
        <p:grpSpPr>
          <a:xfrm>
            <a:off x="762000" y="457200"/>
            <a:ext cx="10668000" cy="704850"/>
            <a:chOff x="0" y="0"/>
            <a:chExt cx="10668000" cy="704850"/>
          </a:xfrm>
        </p:grpSpPr>
        <p:sp>
          <p:nvSpPr>
            <p:cNvPr id="338" name="Google Shape;338;h25e1d19284b390e5_1_2452"/>
            <p:cNvSpPr txBox="1"/>
            <p:nvPr/>
          </p:nvSpPr>
          <p:spPr>
            <a:xfrm>
              <a:off x="0" y="0"/>
              <a:ext cx="10668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590">
                  <a:solidFill>
                    <a:srgbClr val="4C1D9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Brownie Points: Key Differentiators</a:t>
              </a:r>
              <a:endParaRPr b="0" sz="2590">
                <a:solidFill>
                  <a:srgbClr val="4C1D9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39" name="Google Shape;339;h25e1d19284b390e5_1_2452"/>
            <p:cNvSpPr txBox="1"/>
            <p:nvPr/>
          </p:nvSpPr>
          <p:spPr>
            <a:xfrm>
              <a:off x="0" y="438150"/>
              <a:ext cx="10668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Evolving from a Voice Assistant to an Interactive AI Vision Guide</a:t>
              </a:r>
              <a:endParaRPr b="0" sz="13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40" name="Google Shape;340;h25e1d19284b390e5_1_2452"/>
          <p:cNvGrpSpPr/>
          <p:nvPr/>
        </p:nvGrpSpPr>
        <p:grpSpPr>
          <a:xfrm>
            <a:off x="762000" y="1428750"/>
            <a:ext cx="2419500" cy="2571900"/>
            <a:chOff x="0" y="0"/>
            <a:chExt cx="2419500" cy="2571900"/>
          </a:xfrm>
        </p:grpSpPr>
        <p:sp>
          <p:nvSpPr>
            <p:cNvPr id="341" name="Google Shape;341;h25e1d19284b390e5_1_2452"/>
            <p:cNvSpPr/>
            <p:nvPr/>
          </p:nvSpPr>
          <p:spPr>
            <a:xfrm>
              <a:off x="0" y="0"/>
              <a:ext cx="2419500" cy="2571900"/>
            </a:xfrm>
            <a:prstGeom prst="roundRect">
              <a:avLst>
                <a:gd fmla="val 629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h25e1d19284b390e5_1_2452"/>
            <p:cNvSpPr/>
            <p:nvPr/>
          </p:nvSpPr>
          <p:spPr>
            <a:xfrm>
              <a:off x="1905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h25e1d19284b390e5_1_2452"/>
            <p:cNvSpPr txBox="1"/>
            <p:nvPr/>
          </p:nvSpPr>
          <p:spPr>
            <a:xfrm>
              <a:off x="1905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photo_camera</a:t>
              </a:r>
              <a:endParaRPr sz="20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4" name="Google Shape;344;h25e1d19284b390e5_1_2452"/>
            <p:cNvSpPr txBox="1"/>
            <p:nvPr/>
          </p:nvSpPr>
          <p:spPr>
            <a:xfrm>
              <a:off x="190500" y="838200"/>
              <a:ext cx="20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Camera Input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5" name="Google Shape;345;h25e1d19284b390e5_1_2452"/>
            <p:cNvSpPr txBox="1"/>
            <p:nvPr/>
          </p:nvSpPr>
          <p:spPr>
            <a:xfrm>
              <a:off x="190500" y="1219200"/>
              <a:ext cx="20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Continuously captures the user's immediate physical surroundings.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6" name="Google Shape;346;h25e1d19284b390e5_1_2452"/>
          <p:cNvGrpSpPr/>
          <p:nvPr/>
        </p:nvGrpSpPr>
        <p:grpSpPr>
          <a:xfrm>
            <a:off x="3562350" y="1428750"/>
            <a:ext cx="2419500" cy="2571900"/>
            <a:chOff x="0" y="0"/>
            <a:chExt cx="2419500" cy="2571900"/>
          </a:xfrm>
        </p:grpSpPr>
        <p:sp>
          <p:nvSpPr>
            <p:cNvPr id="347" name="Google Shape;347;h25e1d19284b390e5_1_2452"/>
            <p:cNvSpPr/>
            <p:nvPr/>
          </p:nvSpPr>
          <p:spPr>
            <a:xfrm>
              <a:off x="0" y="0"/>
              <a:ext cx="2419500" cy="2571900"/>
            </a:xfrm>
            <a:prstGeom prst="roundRect">
              <a:avLst>
                <a:gd fmla="val 629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h25e1d19284b390e5_1_2452"/>
            <p:cNvSpPr/>
            <p:nvPr/>
          </p:nvSpPr>
          <p:spPr>
            <a:xfrm>
              <a:off x="1905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h25e1d19284b390e5_1_2452"/>
            <p:cNvSpPr txBox="1"/>
            <p:nvPr/>
          </p:nvSpPr>
          <p:spPr>
            <a:xfrm>
              <a:off x="1905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20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0" name="Google Shape;350;h25e1d19284b390e5_1_2452"/>
            <p:cNvSpPr txBox="1"/>
            <p:nvPr/>
          </p:nvSpPr>
          <p:spPr>
            <a:xfrm>
              <a:off x="190500" y="838200"/>
              <a:ext cx="20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Vision + Depth AI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1" name="Google Shape;351;h25e1d19284b390e5_1_2452"/>
            <p:cNvSpPr txBox="1"/>
            <p:nvPr/>
          </p:nvSpPr>
          <p:spPr>
            <a:xfrm>
              <a:off x="190500" y="1219200"/>
              <a:ext cx="20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Detects objects, people, obstacles, and precise spatial positions.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2" name="Google Shape;352;h25e1d19284b390e5_1_2452"/>
          <p:cNvGrpSpPr/>
          <p:nvPr/>
        </p:nvGrpSpPr>
        <p:grpSpPr>
          <a:xfrm>
            <a:off x="6362700" y="1428750"/>
            <a:ext cx="2419500" cy="2571900"/>
            <a:chOff x="0" y="0"/>
            <a:chExt cx="2419500" cy="2571900"/>
          </a:xfrm>
        </p:grpSpPr>
        <p:sp>
          <p:nvSpPr>
            <p:cNvPr id="353" name="Google Shape;353;h25e1d19284b390e5_1_2452"/>
            <p:cNvSpPr/>
            <p:nvPr/>
          </p:nvSpPr>
          <p:spPr>
            <a:xfrm>
              <a:off x="0" y="0"/>
              <a:ext cx="2419500" cy="2571900"/>
            </a:xfrm>
            <a:prstGeom prst="roundRect">
              <a:avLst>
                <a:gd fmla="val 629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h25e1d19284b390e5_1_2452"/>
            <p:cNvSpPr/>
            <p:nvPr/>
          </p:nvSpPr>
          <p:spPr>
            <a:xfrm>
              <a:off x="1905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h25e1d19284b390e5_1_2452"/>
            <p:cNvSpPr txBox="1"/>
            <p:nvPr/>
          </p:nvSpPr>
          <p:spPr>
            <a:xfrm>
              <a:off x="1905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0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6" name="Google Shape;356;h25e1d19284b390e5_1_2452"/>
            <p:cNvSpPr txBox="1"/>
            <p:nvPr/>
          </p:nvSpPr>
          <p:spPr>
            <a:xfrm>
              <a:off x="190500" y="838200"/>
              <a:ext cx="20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Real-Time Agent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7" name="Google Shape;357;h25e1d19284b390e5_1_2452"/>
            <p:cNvSpPr txBox="1"/>
            <p:nvPr/>
          </p:nvSpPr>
          <p:spPr>
            <a:xfrm>
              <a:off x="190500" y="1219200"/>
              <a:ext cx="20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Analyzes contextual scene data and prioritizes essential information.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8" name="Google Shape;358;h25e1d19284b390e5_1_2452"/>
          <p:cNvGrpSpPr/>
          <p:nvPr/>
        </p:nvGrpSpPr>
        <p:grpSpPr>
          <a:xfrm>
            <a:off x="9163050" y="1428750"/>
            <a:ext cx="2267100" cy="2571900"/>
            <a:chOff x="0" y="0"/>
            <a:chExt cx="2267100" cy="2571900"/>
          </a:xfrm>
        </p:grpSpPr>
        <p:sp>
          <p:nvSpPr>
            <p:cNvPr id="359" name="Google Shape;359;h25e1d19284b390e5_1_2452"/>
            <p:cNvSpPr/>
            <p:nvPr/>
          </p:nvSpPr>
          <p:spPr>
            <a:xfrm>
              <a:off x="0" y="0"/>
              <a:ext cx="2267100" cy="2571900"/>
            </a:xfrm>
            <a:prstGeom prst="roundRect">
              <a:avLst>
                <a:gd fmla="val 672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h25e1d19284b390e5_1_2452"/>
            <p:cNvSpPr/>
            <p:nvPr/>
          </p:nvSpPr>
          <p:spPr>
            <a:xfrm>
              <a:off x="1905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h25e1d19284b390e5_1_2452"/>
            <p:cNvSpPr txBox="1"/>
            <p:nvPr/>
          </p:nvSpPr>
          <p:spPr>
            <a:xfrm>
              <a:off x="1905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volume_up</a:t>
              </a:r>
              <a:endParaRPr sz="20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2" name="Google Shape;362;h25e1d19284b390e5_1_2452"/>
            <p:cNvSpPr txBox="1"/>
            <p:nvPr/>
          </p:nvSpPr>
          <p:spPr>
            <a:xfrm>
              <a:off x="190500" y="838200"/>
              <a:ext cx="1886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Voice Guidance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3" name="Google Shape;363;h25e1d19284b390e5_1_2452"/>
            <p:cNvSpPr txBox="1"/>
            <p:nvPr/>
          </p:nvSpPr>
          <p:spPr>
            <a:xfrm>
              <a:off x="190500" y="1219200"/>
              <a:ext cx="1886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Delivers immediate, action-oriented audio feedback to the user.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4" name="Google Shape;364;h25e1d19284b390e5_1_2452"/>
          <p:cNvGrpSpPr/>
          <p:nvPr/>
        </p:nvGrpSpPr>
        <p:grpSpPr>
          <a:xfrm>
            <a:off x="762000" y="4286250"/>
            <a:ext cx="10668000" cy="2000100"/>
            <a:chOff x="0" y="0"/>
            <a:chExt cx="10668000" cy="2000100"/>
          </a:xfrm>
        </p:grpSpPr>
        <p:sp>
          <p:nvSpPr>
            <p:cNvPr id="365" name="Google Shape;365;h25e1d19284b390e5_1_2452"/>
            <p:cNvSpPr/>
            <p:nvPr/>
          </p:nvSpPr>
          <p:spPr>
            <a:xfrm>
              <a:off x="0" y="0"/>
              <a:ext cx="10668000" cy="2000100"/>
            </a:xfrm>
            <a:prstGeom prst="roundRect">
              <a:avLst>
                <a:gd fmla="val 9523" name="adj"/>
              </a:avLst>
            </a:prstGeom>
            <a:gradFill>
              <a:gsLst>
                <a:gs pos="0">
                  <a:srgbClr val="2E1065"/>
                </a:gs>
                <a:gs pos="100000">
                  <a:srgbClr val="4C1D95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h25e1d19284b390e5_1_2452"/>
            <p:cNvSpPr txBox="1"/>
            <p:nvPr/>
          </p:nvSpPr>
          <p:spPr>
            <a:xfrm>
              <a:off x="342900" y="266700"/>
              <a:ext cx="9982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FDE04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Our Core Differentiation: Real-Time Interruption &amp; Multimodal Fusion</a:t>
              </a:r>
              <a:endParaRPr b="0" sz="1700">
                <a:solidFill>
                  <a:srgbClr val="FDE04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67" name="Google Shape;367;h25e1d19284b390e5_1_2452"/>
            <p:cNvSpPr txBox="1"/>
            <p:nvPr/>
          </p:nvSpPr>
          <p:spPr>
            <a:xfrm>
              <a:off x="342900" y="666750"/>
              <a:ext cx="99822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E9D5FF"/>
                  </a:solidFill>
                  <a:latin typeface="Inter"/>
                  <a:ea typeface="Inter"/>
                  <a:cs typeface="Inter"/>
                  <a:sym typeface="Inter"/>
                </a:rPr>
                <a:t>Unlike rigid assistants, our AI stops instantly mid-sentence when spoken to, listens, adapts to new questions, and responds without forcing the user to wait.</a:t>
              </a:r>
              <a:endParaRPr b="0" sz="1200">
                <a:solidFill>
                  <a:srgbClr val="E9D5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68" name="Google Shape;368;h25e1d19284b390e5_1_2452"/>
            <p:cNvGrpSpPr/>
            <p:nvPr/>
          </p:nvGrpSpPr>
          <p:grpSpPr>
            <a:xfrm>
              <a:off x="342900" y="1333500"/>
              <a:ext cx="1238400" cy="381000"/>
              <a:chOff x="0" y="0"/>
              <a:chExt cx="1238400" cy="381000"/>
            </a:xfrm>
          </p:grpSpPr>
          <p:sp>
            <p:nvSpPr>
              <p:cNvPr id="369" name="Google Shape;369;h25e1d19284b390e5_1_2452"/>
              <p:cNvSpPr/>
              <p:nvPr/>
            </p:nvSpPr>
            <p:spPr>
              <a:xfrm>
                <a:off x="0" y="0"/>
                <a:ext cx="12384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2000"/>
                </a:srgbClr>
              </a:solidFill>
              <a:ln cap="flat" cmpd="sng" w="9525">
                <a:solidFill>
                  <a:srgbClr val="FFFFFF">
                    <a:alpha val="2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h25e1d19284b390e5_1_2452"/>
              <p:cNvSpPr txBox="1"/>
              <p:nvPr/>
            </p:nvSpPr>
            <p:spPr>
              <a:xfrm>
                <a:off x="0" y="0"/>
                <a:ext cx="1238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Voice </a:t>
                </a:r>
                <a:endParaRPr b="0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71" name="Google Shape;371;h25e1d19284b390e5_1_2452"/>
            <p:cNvGrpSpPr/>
            <p:nvPr/>
          </p:nvGrpSpPr>
          <p:grpSpPr>
            <a:xfrm>
              <a:off x="1733550" y="1333500"/>
              <a:ext cx="1238400" cy="381000"/>
              <a:chOff x="0" y="0"/>
              <a:chExt cx="1238400" cy="381000"/>
            </a:xfrm>
          </p:grpSpPr>
          <p:sp>
            <p:nvSpPr>
              <p:cNvPr id="372" name="Google Shape;372;h25e1d19284b390e5_1_2452"/>
              <p:cNvSpPr/>
              <p:nvPr/>
            </p:nvSpPr>
            <p:spPr>
              <a:xfrm>
                <a:off x="0" y="0"/>
                <a:ext cx="12384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2000"/>
                </a:srgbClr>
              </a:solidFill>
              <a:ln cap="flat" cmpd="sng" w="9525">
                <a:solidFill>
                  <a:srgbClr val="FFFFFF">
                    <a:alpha val="2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h25e1d19284b390e5_1_2452"/>
              <p:cNvSpPr txBox="1"/>
              <p:nvPr/>
            </p:nvSpPr>
            <p:spPr>
              <a:xfrm>
                <a:off x="0" y="0"/>
                <a:ext cx="1238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Vision </a:t>
                </a:r>
                <a:endParaRPr b="0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74" name="Google Shape;374;h25e1d19284b390e5_1_2452"/>
            <p:cNvGrpSpPr/>
            <p:nvPr/>
          </p:nvGrpSpPr>
          <p:grpSpPr>
            <a:xfrm>
              <a:off x="3124200" y="1333500"/>
              <a:ext cx="1238400" cy="381000"/>
              <a:chOff x="0" y="0"/>
              <a:chExt cx="1238400" cy="381000"/>
            </a:xfrm>
          </p:grpSpPr>
          <p:sp>
            <p:nvSpPr>
              <p:cNvPr id="375" name="Google Shape;375;h25e1d19284b390e5_1_2452"/>
              <p:cNvSpPr/>
              <p:nvPr/>
            </p:nvSpPr>
            <p:spPr>
              <a:xfrm>
                <a:off x="0" y="0"/>
                <a:ext cx="12384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2000"/>
                </a:srgbClr>
              </a:solidFill>
              <a:ln cap="flat" cmpd="sng" w="9525">
                <a:solidFill>
                  <a:srgbClr val="FFFFFF">
                    <a:alpha val="2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h25e1d19284b390e5_1_2452"/>
              <p:cNvSpPr txBox="1"/>
              <p:nvPr/>
            </p:nvSpPr>
            <p:spPr>
              <a:xfrm>
                <a:off x="0" y="0"/>
                <a:ext cx="1238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Depth </a:t>
                </a:r>
                <a:endParaRPr b="0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77" name="Google Shape;377;h25e1d19284b390e5_1_2452"/>
            <p:cNvGrpSpPr/>
            <p:nvPr/>
          </p:nvGrpSpPr>
          <p:grpSpPr>
            <a:xfrm>
              <a:off x="4514850" y="1333500"/>
              <a:ext cx="2095500" cy="381000"/>
              <a:chOff x="0" y="0"/>
              <a:chExt cx="2095500" cy="381000"/>
            </a:xfrm>
          </p:grpSpPr>
          <p:sp>
            <p:nvSpPr>
              <p:cNvPr id="378" name="Google Shape;378;h25e1d19284b390e5_1_2452"/>
              <p:cNvSpPr/>
              <p:nvPr/>
            </p:nvSpPr>
            <p:spPr>
              <a:xfrm>
                <a:off x="0" y="0"/>
                <a:ext cx="20955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2000"/>
                </a:srgbClr>
              </a:solidFill>
              <a:ln cap="flat" cmpd="sng" w="9525">
                <a:solidFill>
                  <a:srgbClr val="FFFFFF">
                    <a:alpha val="2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h25e1d19284b390e5_1_2452"/>
              <p:cNvSpPr txBox="1"/>
              <p:nvPr/>
            </p:nvSpPr>
            <p:spPr>
              <a:xfrm>
                <a:off x="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Real-Time Interaction </a:t>
                </a:r>
                <a:endParaRPr b="0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